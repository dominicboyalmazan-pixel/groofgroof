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Poppins Ultra-Bold" charset="1" panose="00000900000000000000"/>
      <p:regular r:id="rId24"/>
    </p:embeddedFont>
    <p:embeddedFont>
      <p:font typeface="Poppins Italics" charset="1" panose="00000500000000000000"/>
      <p:regular r:id="rId25"/>
    </p:embeddedFont>
    <p:embeddedFont>
      <p:font typeface="Poppins Bold" charset="1" panose="00000800000000000000"/>
      <p:regular r:id="rId26"/>
    </p:embeddedFont>
    <p:embeddedFont>
      <p:font typeface="Poppins" charset="1" panose="00000500000000000000"/>
      <p:regular r:id="rId27"/>
    </p:embeddedFont>
    <p:embeddedFont>
      <p:font typeface="Poppins Semi-Bold" charset="1" panose="000007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34940" y="2830499"/>
            <a:ext cx="15018120" cy="4871085"/>
          </a:xfrm>
          <a:prstGeom prst="rect">
            <a:avLst/>
          </a:prstGeom>
        </p:spPr>
        <p:txBody>
          <a:bodyPr anchor="t" rtlCol="false" tIns="0" lIns="0" bIns="0" rIns="0">
            <a:spAutoFit/>
          </a:bodyPr>
          <a:lstStyle/>
          <a:p>
            <a:pPr algn="ctr">
              <a:lnSpc>
                <a:spcPts val="7589"/>
              </a:lnSpc>
            </a:pPr>
            <a:r>
              <a:rPr lang="en-US" sz="6599" b="true">
                <a:solidFill>
                  <a:srgbClr val="00385D"/>
                </a:solidFill>
                <a:latin typeface="Poppins Ultra-Bold"/>
                <a:ea typeface="Poppins Ultra-Bold"/>
                <a:cs typeface="Poppins Ultra-Bold"/>
                <a:sym typeface="Poppins Ultra-Bold"/>
              </a:rPr>
              <a:t> Final Project: Fine-Tuning MentalBERT for Mental Health Text Classification Using Grid Search and Random Search Optimization</a:t>
            </a:r>
          </a:p>
          <a:p>
            <a:pPr algn="ctr">
              <a:lnSpc>
                <a:spcPts val="7589"/>
              </a:lnSpc>
            </a:pPr>
            <a:r>
              <a:rPr lang="en-US" sz="6599" b="true">
                <a:solidFill>
                  <a:srgbClr val="00385D"/>
                </a:solidFill>
                <a:latin typeface="Poppins Ultra-Bold"/>
                <a:ea typeface="Poppins Ultra-Bold"/>
                <a:cs typeface="Poppins Ultra-Bold"/>
                <a:sym typeface="Poppins Ultra-Bold"/>
              </a:rPr>
              <a:t>(SDG 3 Target 4.1)  </a:t>
            </a:r>
          </a:p>
        </p:txBody>
      </p:sp>
      <p:sp>
        <p:nvSpPr>
          <p:cNvPr name="TextBox 4" id="4"/>
          <p:cNvSpPr txBox="true"/>
          <p:nvPr/>
        </p:nvSpPr>
        <p:spPr>
          <a:xfrm rot="0">
            <a:off x="1028700" y="8730182"/>
            <a:ext cx="2424961" cy="457835"/>
          </a:xfrm>
          <a:prstGeom prst="rect">
            <a:avLst/>
          </a:prstGeom>
        </p:spPr>
        <p:txBody>
          <a:bodyPr anchor="t" rtlCol="false" tIns="0" lIns="0" bIns="0" rIns="0">
            <a:spAutoFit/>
          </a:bodyPr>
          <a:lstStyle/>
          <a:p>
            <a:pPr algn="l">
              <a:lnSpc>
                <a:spcPts val="3640"/>
              </a:lnSpc>
            </a:pPr>
            <a:r>
              <a:rPr lang="en-US" sz="2600" i="true">
                <a:solidFill>
                  <a:srgbClr val="00385D"/>
                </a:solidFill>
                <a:latin typeface="Poppins Italics"/>
                <a:ea typeface="Poppins Italics"/>
                <a:cs typeface="Poppins Italics"/>
                <a:sym typeface="Poppins Italics"/>
              </a:rPr>
              <a:t>Presented by</a:t>
            </a:r>
          </a:p>
        </p:txBody>
      </p:sp>
      <p:sp>
        <p:nvSpPr>
          <p:cNvPr name="TextBox 5" id="5"/>
          <p:cNvSpPr txBox="true"/>
          <p:nvPr/>
        </p:nvSpPr>
        <p:spPr>
          <a:xfrm rot="0">
            <a:off x="1028700" y="9178442"/>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6" id="6"/>
          <p:cNvSpPr txBox="true"/>
          <p:nvPr/>
        </p:nvSpPr>
        <p:spPr>
          <a:xfrm rot="0">
            <a:off x="14834339" y="8565438"/>
            <a:ext cx="2424961" cy="651129"/>
          </a:xfrm>
          <a:prstGeom prst="rect">
            <a:avLst/>
          </a:prstGeom>
        </p:spPr>
        <p:txBody>
          <a:bodyPr anchor="t" rtlCol="false" tIns="0" lIns="0" bIns="0" rIns="0">
            <a:spAutoFit/>
          </a:bodyPr>
          <a:lstStyle/>
          <a:p>
            <a:pPr algn="r">
              <a:lnSpc>
                <a:spcPts val="2418"/>
              </a:lnSpc>
            </a:pPr>
            <a:r>
              <a:rPr lang="en-US" sz="2600" i="true">
                <a:solidFill>
                  <a:srgbClr val="00385D"/>
                </a:solidFill>
                <a:latin typeface="Poppins Italics"/>
                <a:ea typeface="Poppins Italics"/>
                <a:cs typeface="Poppins Italics"/>
                <a:sym typeface="Poppins Italics"/>
              </a:rPr>
              <a:t>Under the Guidance of:</a:t>
            </a:r>
          </a:p>
        </p:txBody>
      </p:sp>
      <p:sp>
        <p:nvSpPr>
          <p:cNvPr name="TextBox 7" id="7"/>
          <p:cNvSpPr txBox="true"/>
          <p:nvPr/>
        </p:nvSpPr>
        <p:spPr>
          <a:xfrm rot="0">
            <a:off x="9598526" y="9121317"/>
            <a:ext cx="7660774" cy="551555"/>
          </a:xfrm>
          <a:prstGeom prst="rect">
            <a:avLst/>
          </a:prstGeom>
        </p:spPr>
        <p:txBody>
          <a:bodyPr anchor="t" rtlCol="false" tIns="0" lIns="0" bIns="0" rIns="0">
            <a:spAutoFit/>
          </a:bodyPr>
          <a:lstStyle/>
          <a:p>
            <a:pPr algn="r">
              <a:lnSpc>
                <a:spcPts val="4249"/>
              </a:lnSpc>
            </a:pPr>
            <a:r>
              <a:rPr lang="en-US" b="true" sz="3035" spc="-60">
                <a:solidFill>
                  <a:srgbClr val="00385D"/>
                </a:solidFill>
                <a:latin typeface="Poppins Bold"/>
                <a:ea typeface="Poppins Bold"/>
                <a:cs typeface="Poppins Bold"/>
                <a:sym typeface="Poppins Bold"/>
              </a:rPr>
              <a:t>Dr. Rodolfo C. Raga Jr.</a:t>
            </a:r>
          </a:p>
        </p:txBody>
      </p:sp>
      <p:sp>
        <p:nvSpPr>
          <p:cNvPr name="TextBox 8" id="8"/>
          <p:cNvSpPr txBox="true"/>
          <p:nvPr/>
        </p:nvSpPr>
        <p:spPr>
          <a:xfrm rot="0">
            <a:off x="8606118" y="237267"/>
            <a:ext cx="6415877" cy="457835"/>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 | GroofGroof</a:t>
            </a:r>
          </a:p>
        </p:txBody>
      </p:sp>
      <p:sp>
        <p:nvSpPr>
          <p:cNvPr name="Freeform 9" id="9"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1363141"/>
            <a:ext cx="9686383"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INTRODUCTION</a:t>
            </a:r>
          </a:p>
        </p:txBody>
      </p:sp>
      <p:sp>
        <p:nvSpPr>
          <p:cNvPr name="Freeform 7" id="7"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8" id="8"/>
          <p:cNvSpPr txBox="true"/>
          <p:nvPr/>
        </p:nvSpPr>
        <p:spPr>
          <a:xfrm rot="0">
            <a:off x="1028700" y="2856035"/>
            <a:ext cx="15869234" cy="5462905"/>
          </a:xfrm>
          <a:prstGeom prst="rect">
            <a:avLst/>
          </a:prstGeom>
        </p:spPr>
        <p:txBody>
          <a:bodyPr anchor="t" rtlCol="false" tIns="0" lIns="0" bIns="0" rIns="0">
            <a:spAutoFit/>
          </a:bodyPr>
          <a:lstStyle/>
          <a:p>
            <a:pPr algn="just">
              <a:lnSpc>
                <a:spcPts val="3919"/>
              </a:lnSpc>
            </a:pPr>
            <a:r>
              <a:rPr lang="en-US" sz="2799" spc="-69">
                <a:solidFill>
                  <a:srgbClr val="00385D"/>
                </a:solidFill>
                <a:latin typeface="Poppins"/>
                <a:ea typeface="Poppins"/>
                <a:cs typeface="Poppins"/>
                <a:sym typeface="Poppins"/>
              </a:rPr>
              <a:t>Social media, forums, and messaging platforms have become important outlets for people experiencing mental health struggles, including suicidal thoughts. The language people use often contains subtle signs of distress that automated systems can help detect. Natural Language Processing (NLP) allows large amounts of text to be analyzed quickly, but general-purpose models may miss mental health–specific cues. Transformer-based models like MentalBERT, pre-trained on mental health data, are better at identifying these patterns. Fine-tuning MentalBERT for specific tasks and optimizing its hyperparameters using Grid Search and Random Search can improve prediction accuracy and reliability. This study supports SDG 3 (Good Health and Well-Being), Target 3.4 by providing AI tools that detect signs of emotional distress early, helping healthcare professionals intervene faster and promote mental health awareness and well-being.</a:t>
            </a: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TextBox 6" id="6"/>
          <p:cNvSpPr txBox="true"/>
          <p:nvPr/>
        </p:nvSpPr>
        <p:spPr>
          <a:xfrm rot="0">
            <a:off x="1028700" y="1363141"/>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PROBLEM STATEMENTS</a:t>
            </a:r>
          </a:p>
        </p:txBody>
      </p:sp>
      <p:sp>
        <p:nvSpPr>
          <p:cNvPr name="Freeform 7" id="7"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8" id="8"/>
          <p:cNvSpPr txBox="true"/>
          <p:nvPr/>
        </p:nvSpPr>
        <p:spPr>
          <a:xfrm rot="0">
            <a:off x="1028700" y="2881886"/>
            <a:ext cx="16230600" cy="5050790"/>
          </a:xfrm>
          <a:prstGeom prst="rect">
            <a:avLst/>
          </a:prstGeom>
        </p:spPr>
        <p:txBody>
          <a:bodyPr anchor="t" rtlCol="false" tIns="0" lIns="0" bIns="0" rIns="0">
            <a:spAutoFit/>
          </a:bodyPr>
          <a:lstStyle/>
          <a:p>
            <a:pPr algn="just" marL="604516" indent="-302258" lvl="1">
              <a:lnSpc>
                <a:spcPts val="3639"/>
              </a:lnSpc>
              <a:buFont typeface="Arial"/>
              <a:buChar char="•"/>
            </a:pPr>
            <a:r>
              <a:rPr lang="en-US" sz="2799" spc="-55">
                <a:solidFill>
                  <a:srgbClr val="00385D"/>
                </a:solidFill>
                <a:latin typeface="Poppins"/>
                <a:ea typeface="Poppins"/>
                <a:cs typeface="Poppins"/>
                <a:sym typeface="Poppins"/>
              </a:rPr>
              <a:t>Suicide is a critical global health issue, with many individuals expressing distress online.</a:t>
            </a:r>
          </a:p>
          <a:p>
            <a:pPr algn="just" marL="604516" indent="-302258" lvl="1">
              <a:lnSpc>
                <a:spcPts val="3639"/>
              </a:lnSpc>
              <a:buFont typeface="Arial"/>
              <a:buChar char="•"/>
            </a:pPr>
            <a:r>
              <a:rPr lang="en-US" sz="2799" spc="-55">
                <a:solidFill>
                  <a:srgbClr val="00385D"/>
                </a:solidFill>
                <a:latin typeface="Poppins"/>
                <a:ea typeface="Poppins"/>
                <a:cs typeface="Poppins"/>
                <a:sym typeface="Poppins"/>
              </a:rPr>
              <a:t>Mental health signals in online text are often subtle, making early detection difficult for humans.</a:t>
            </a:r>
          </a:p>
          <a:p>
            <a:pPr algn="just" marL="604516" indent="-302258" lvl="1">
              <a:lnSpc>
                <a:spcPts val="3639"/>
              </a:lnSpc>
              <a:buFont typeface="Arial"/>
              <a:buChar char="•"/>
            </a:pPr>
            <a:r>
              <a:rPr lang="en-US" sz="2799" spc="-55">
                <a:solidFill>
                  <a:srgbClr val="00385D"/>
                </a:solidFill>
                <a:latin typeface="Poppins"/>
                <a:ea typeface="Poppins"/>
                <a:cs typeface="Poppins"/>
                <a:sym typeface="Poppins"/>
              </a:rPr>
              <a:t>Large volumes of posts related to self-harm or</a:t>
            </a:r>
            <a:r>
              <a:rPr lang="en-US" sz="2799" spc="-55">
                <a:solidFill>
                  <a:srgbClr val="00385D"/>
                </a:solidFill>
                <a:latin typeface="Poppins"/>
                <a:ea typeface="Poppins"/>
                <a:cs typeface="Poppins"/>
                <a:sym typeface="Poppins"/>
              </a:rPr>
              <a:t> suicidal thoughts often go unnoticed.</a:t>
            </a:r>
          </a:p>
          <a:p>
            <a:pPr algn="just" marL="604516" indent="-302258" lvl="1">
              <a:lnSpc>
                <a:spcPts val="3639"/>
              </a:lnSpc>
              <a:buFont typeface="Arial"/>
              <a:buChar char="•"/>
            </a:pPr>
            <a:r>
              <a:rPr lang="en-US" sz="2799" spc="-55">
                <a:solidFill>
                  <a:srgbClr val="00385D"/>
                </a:solidFill>
                <a:latin typeface="Poppins"/>
                <a:ea typeface="Poppins"/>
                <a:cs typeface="Poppins"/>
                <a:sym typeface="Poppins"/>
              </a:rPr>
              <a:t>Automated systems are needed to identify at-risk individuals from online text.</a:t>
            </a:r>
          </a:p>
          <a:p>
            <a:pPr algn="just" marL="604516" indent="-302258" lvl="1">
              <a:lnSpc>
                <a:spcPts val="3639"/>
              </a:lnSpc>
              <a:buFont typeface="Arial"/>
              <a:buChar char="•"/>
            </a:pPr>
            <a:r>
              <a:rPr lang="en-US" sz="2799" spc="-55">
                <a:solidFill>
                  <a:srgbClr val="00385D"/>
                </a:solidFill>
                <a:latin typeface="Poppins"/>
                <a:ea typeface="Poppins"/>
                <a:cs typeface="Poppins"/>
                <a:sym typeface="Poppins"/>
              </a:rPr>
              <a:t>Fine-tuning MentalBERT for this task depends on hyperparameters; poor settings can cause misclassification of high-risk cases.</a:t>
            </a:r>
          </a:p>
          <a:p>
            <a:pPr algn="just" marL="604516" indent="-302258" lvl="1">
              <a:lnSpc>
                <a:spcPts val="3639"/>
              </a:lnSpc>
              <a:buFont typeface="Arial"/>
              <a:buChar char="•"/>
            </a:pPr>
            <a:r>
              <a:rPr lang="en-US" sz="2799" spc="-55">
                <a:solidFill>
                  <a:srgbClr val="00385D"/>
                </a:solidFill>
                <a:latin typeface="Poppins"/>
                <a:ea typeface="Poppins"/>
                <a:cs typeface="Poppins"/>
                <a:sym typeface="Poppins"/>
              </a:rPr>
              <a:t>Current studies rarely explore the effect of hyperparameter optimization on MentalBERT for suicide risk detection.</a:t>
            </a:r>
          </a:p>
          <a:p>
            <a:pPr algn="just" marL="604516" indent="-302258" lvl="1">
              <a:lnSpc>
                <a:spcPts val="3639"/>
              </a:lnSpc>
              <a:buFont typeface="Arial"/>
              <a:buChar char="•"/>
            </a:pPr>
            <a:r>
              <a:rPr lang="en-US" sz="2799" spc="-55">
                <a:solidFill>
                  <a:srgbClr val="00385D"/>
                </a:solidFill>
                <a:latin typeface="Poppins"/>
                <a:ea typeface="Poppins"/>
                <a:cs typeface="Poppins"/>
                <a:sym typeface="Poppins"/>
              </a:rPr>
              <a:t>It is unclear whether Grid Search or Random Search is more effective for optimizing MentalBERT in this context.</a:t>
            </a: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363141"/>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OBJECTIVES</a:t>
            </a:r>
          </a:p>
        </p:txBody>
      </p:sp>
      <p:sp>
        <p:nvSpPr>
          <p:cNvPr name="TextBox 8" id="8"/>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9" id="9"/>
          <p:cNvSpPr txBox="true"/>
          <p:nvPr/>
        </p:nvSpPr>
        <p:spPr>
          <a:xfrm rot="0">
            <a:off x="889147" y="2650861"/>
            <a:ext cx="15741509" cy="5958204"/>
          </a:xfrm>
          <a:prstGeom prst="rect">
            <a:avLst/>
          </a:prstGeom>
        </p:spPr>
        <p:txBody>
          <a:bodyPr anchor="t" rtlCol="false" tIns="0" lIns="0" bIns="0" rIns="0">
            <a:spAutoFit/>
          </a:bodyPr>
          <a:lstStyle/>
          <a:p>
            <a:pPr algn="just" marL="604524" indent="-302262" lvl="1">
              <a:lnSpc>
                <a:spcPts val="3920"/>
              </a:lnSpc>
              <a:buFont typeface="Arial"/>
              <a:buChar char="•"/>
            </a:pPr>
            <a:r>
              <a:rPr lang="en-US" sz="2800" spc="-56">
                <a:solidFill>
                  <a:srgbClr val="00385D"/>
                </a:solidFill>
                <a:latin typeface="Poppins"/>
                <a:ea typeface="Poppins"/>
                <a:cs typeface="Poppins"/>
                <a:sym typeface="Poppins"/>
              </a:rPr>
              <a:t>Examine how different hyperparameter optimization strategies affect MentalBERT’s performance in detecting Normal and Suicidal expressions in social media text.</a:t>
            </a:r>
          </a:p>
          <a:p>
            <a:pPr algn="just" marL="604524" indent="-302262" lvl="1">
              <a:lnSpc>
                <a:spcPts val="3920"/>
              </a:lnSpc>
              <a:buFont typeface="Arial"/>
              <a:buChar char="•"/>
            </a:pPr>
            <a:r>
              <a:rPr lang="en-US" sz="2800" spc="-56">
                <a:solidFill>
                  <a:srgbClr val="00385D"/>
                </a:solidFill>
                <a:latin typeface="Poppins"/>
                <a:ea typeface="Poppins"/>
                <a:cs typeface="Poppins"/>
                <a:sym typeface="Poppins"/>
              </a:rPr>
              <a:t>Investigate the impact of key hyperparameters: learning rate, weight decay, and number of training epochs on model stability and effectiveness.</a:t>
            </a:r>
          </a:p>
          <a:p>
            <a:pPr algn="just" marL="604524" indent="-302262" lvl="1">
              <a:lnSpc>
                <a:spcPts val="3920"/>
              </a:lnSpc>
              <a:buFont typeface="Arial"/>
              <a:buChar char="•"/>
            </a:pPr>
            <a:r>
              <a:rPr lang="en-US" sz="2800" spc="-56">
                <a:solidFill>
                  <a:srgbClr val="00385D"/>
                </a:solidFill>
                <a:latin typeface="Poppins"/>
                <a:ea typeface="Poppins"/>
                <a:cs typeface="Poppins"/>
                <a:sym typeface="Poppins"/>
              </a:rPr>
              <a:t>Implement and compare Random Search and Grid Search to evaluate their effects on model performance, computational cost, and training efficiency.</a:t>
            </a:r>
          </a:p>
          <a:p>
            <a:pPr algn="just" marL="604524" indent="-302262" lvl="1">
              <a:lnSpc>
                <a:spcPts val="3920"/>
              </a:lnSpc>
              <a:buFont typeface="Arial"/>
              <a:buChar char="•"/>
            </a:pPr>
            <a:r>
              <a:rPr lang="en-US" sz="2800" spc="-56">
                <a:solidFill>
                  <a:srgbClr val="00385D"/>
                </a:solidFill>
                <a:latin typeface="Poppins"/>
                <a:ea typeface="Poppins"/>
                <a:cs typeface="Poppins"/>
                <a:sym typeface="Poppins"/>
              </a:rPr>
              <a:t>Evaluate fine-tuned models using classification metrics: accuracy, precision, recall, and F1-score, focusing on detecting suicidal intent.</a:t>
            </a:r>
          </a:p>
          <a:p>
            <a:pPr algn="just" marL="604524" indent="-302262" lvl="1">
              <a:lnSpc>
                <a:spcPts val="3920"/>
              </a:lnSpc>
              <a:buFont typeface="Arial"/>
              <a:buChar char="•"/>
            </a:pPr>
            <a:r>
              <a:rPr lang="en-US" sz="2800" spc="-56">
                <a:solidFill>
                  <a:srgbClr val="00385D"/>
                </a:solidFill>
                <a:latin typeface="Poppins"/>
                <a:ea typeface="Poppins"/>
                <a:cs typeface="Poppins"/>
                <a:sym typeface="Poppins"/>
              </a:rPr>
              <a:t>Identify hyperparameter configurations that consistently provide balanced and reliable classification for high-risk mental health cues.</a:t>
            </a:r>
          </a:p>
          <a:p>
            <a:pPr algn="just" marL="604524" indent="-302262" lvl="1">
              <a:lnSpc>
                <a:spcPts val="3920"/>
              </a:lnSpc>
              <a:buFont typeface="Arial"/>
              <a:buChar char="•"/>
            </a:pPr>
            <a:r>
              <a:rPr lang="en-US" sz="2800" spc="-56">
                <a:solidFill>
                  <a:srgbClr val="00385D"/>
                </a:solidFill>
                <a:latin typeface="Poppins"/>
                <a:ea typeface="Poppins"/>
                <a:cs typeface="Poppins"/>
                <a:sym typeface="Poppins"/>
              </a:rPr>
              <a:t>Provide practical insights for developing automated mental health assessment systems using transformer-based models.</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363141"/>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SCOPE OF WORKS</a:t>
            </a:r>
          </a:p>
        </p:txBody>
      </p:sp>
      <p:sp>
        <p:nvSpPr>
          <p:cNvPr name="TextBox 8" id="8"/>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9" id="9"/>
          <p:cNvSpPr txBox="true"/>
          <p:nvPr/>
        </p:nvSpPr>
        <p:spPr>
          <a:xfrm rot="0">
            <a:off x="1028700" y="2621886"/>
            <a:ext cx="16230600" cy="6198869"/>
          </a:xfrm>
          <a:prstGeom prst="rect">
            <a:avLst/>
          </a:prstGeom>
        </p:spPr>
        <p:txBody>
          <a:bodyPr anchor="t" rtlCol="false" tIns="0" lIns="0" bIns="0" rIns="0">
            <a:spAutoFit/>
          </a:bodyPr>
          <a:lstStyle/>
          <a:p>
            <a:pPr algn="just">
              <a:lnSpc>
                <a:spcPts val="3780"/>
              </a:lnSpc>
            </a:pPr>
            <a:r>
              <a:rPr lang="en-US" b="true" sz="2700" spc="-54">
                <a:solidFill>
                  <a:srgbClr val="00385D"/>
                </a:solidFill>
                <a:latin typeface="Poppins Bold"/>
                <a:ea typeface="Poppins Bold"/>
                <a:cs typeface="Poppins Bold"/>
                <a:sym typeface="Poppins Bold"/>
              </a:rPr>
              <a:t>Dataset Preparation</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U</a:t>
            </a:r>
            <a:r>
              <a:rPr lang="en-US" sz="2700" spc="-54">
                <a:solidFill>
                  <a:srgbClr val="00385D"/>
                </a:solidFill>
                <a:latin typeface="Poppins"/>
                <a:ea typeface="Poppins"/>
                <a:cs typeface="Poppins"/>
                <a:sym typeface="Poppins"/>
              </a:rPr>
              <a:t>se the “Sentiment Analysis for Mental Health” dataset from Kaggle.</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Focus on Normal and Suicidal categories for binary classification.</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P</a:t>
            </a:r>
            <a:r>
              <a:rPr lang="en-US" sz="2700" spc="-54">
                <a:solidFill>
                  <a:srgbClr val="00385D"/>
                </a:solidFill>
                <a:latin typeface="Poppins"/>
                <a:ea typeface="Poppins"/>
                <a:cs typeface="Poppins"/>
                <a:sym typeface="Poppins"/>
              </a:rPr>
              <a:t>erform data cleaning, text preprocessing, tokenization, and label encoding.</a:t>
            </a:r>
          </a:p>
          <a:p>
            <a:pPr algn="just">
              <a:lnSpc>
                <a:spcPts val="3780"/>
              </a:lnSpc>
            </a:pPr>
          </a:p>
          <a:p>
            <a:pPr algn="just">
              <a:lnSpc>
                <a:spcPts val="3780"/>
              </a:lnSpc>
            </a:pPr>
            <a:r>
              <a:rPr lang="en-US" b="true" sz="2700" spc="-54">
                <a:solidFill>
                  <a:srgbClr val="00385D"/>
                </a:solidFill>
                <a:latin typeface="Poppins Bold"/>
                <a:ea typeface="Poppins Bold"/>
                <a:cs typeface="Poppins Bold"/>
                <a:sym typeface="Poppins Bold"/>
              </a:rPr>
              <a:t>Model Configur</a:t>
            </a:r>
            <a:r>
              <a:rPr lang="en-US" b="true" sz="2700" spc="-54">
                <a:solidFill>
                  <a:srgbClr val="00385D"/>
                </a:solidFill>
                <a:latin typeface="Poppins Bold"/>
                <a:ea typeface="Poppins Bold"/>
                <a:cs typeface="Poppins Bold"/>
                <a:sym typeface="Poppins Bold"/>
              </a:rPr>
              <a:t>ation and Fine-Tuning</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Fin</a:t>
            </a:r>
            <a:r>
              <a:rPr lang="en-US" sz="2700" spc="-54">
                <a:solidFill>
                  <a:srgbClr val="00385D"/>
                </a:solidFill>
                <a:latin typeface="Poppins"/>
                <a:ea typeface="Poppins"/>
                <a:cs typeface="Poppins"/>
                <a:sym typeface="Poppins"/>
              </a:rPr>
              <a:t>e-tune the MentalBERT model on the processed dataset.</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Vary c</a:t>
            </a:r>
            <a:r>
              <a:rPr lang="en-US" sz="2700" spc="-54">
                <a:solidFill>
                  <a:srgbClr val="00385D"/>
                </a:solidFill>
                <a:latin typeface="Poppins"/>
                <a:ea typeface="Poppins"/>
                <a:cs typeface="Poppins"/>
                <a:sym typeface="Poppins"/>
              </a:rPr>
              <a:t>ore hyperparameters: le</a:t>
            </a:r>
            <a:r>
              <a:rPr lang="en-US" sz="2700" spc="-54">
                <a:solidFill>
                  <a:srgbClr val="00385D"/>
                </a:solidFill>
                <a:latin typeface="Poppins"/>
                <a:ea typeface="Poppins"/>
                <a:cs typeface="Poppins"/>
                <a:sym typeface="Poppins"/>
              </a:rPr>
              <a:t>arning rate, weight decay, and number of epochs across multiple experiments.</a:t>
            </a:r>
          </a:p>
          <a:p>
            <a:pPr algn="just">
              <a:lnSpc>
                <a:spcPts val="3780"/>
              </a:lnSpc>
            </a:pPr>
          </a:p>
          <a:p>
            <a:pPr algn="just">
              <a:lnSpc>
                <a:spcPts val="3780"/>
              </a:lnSpc>
            </a:pPr>
            <a:r>
              <a:rPr lang="en-US" b="true" sz="2700" spc="-54">
                <a:solidFill>
                  <a:srgbClr val="00385D"/>
                </a:solidFill>
                <a:latin typeface="Poppins Bold"/>
                <a:ea typeface="Poppins Bold"/>
                <a:cs typeface="Poppins Bold"/>
                <a:sym typeface="Poppins Bold"/>
              </a:rPr>
              <a:t>Hyperparameter Optimization Methods</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Apply Random Search and Grid Search to explore hyperparameter space.</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Compare both methods in terms of model performance and computational cost.</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363141"/>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SCOPE OF WORKS</a:t>
            </a:r>
          </a:p>
        </p:txBody>
      </p:sp>
      <p:sp>
        <p:nvSpPr>
          <p:cNvPr name="TextBox 8" id="8"/>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9" id="9"/>
          <p:cNvSpPr txBox="true"/>
          <p:nvPr/>
        </p:nvSpPr>
        <p:spPr>
          <a:xfrm rot="0">
            <a:off x="1028700" y="2517396"/>
            <a:ext cx="16230600" cy="6675119"/>
          </a:xfrm>
          <a:prstGeom prst="rect">
            <a:avLst/>
          </a:prstGeom>
        </p:spPr>
        <p:txBody>
          <a:bodyPr anchor="t" rtlCol="false" tIns="0" lIns="0" bIns="0" rIns="0">
            <a:spAutoFit/>
          </a:bodyPr>
          <a:lstStyle/>
          <a:p>
            <a:pPr algn="just">
              <a:lnSpc>
                <a:spcPts val="3780"/>
              </a:lnSpc>
            </a:pPr>
            <a:r>
              <a:rPr lang="en-US" b="true" sz="2700" spc="-54">
                <a:solidFill>
                  <a:srgbClr val="00385D"/>
                </a:solidFill>
                <a:latin typeface="Poppins Bold"/>
                <a:ea typeface="Poppins Bold"/>
                <a:cs typeface="Poppins Bold"/>
                <a:sym typeface="Poppins Bold"/>
              </a:rPr>
              <a:t>Training and Evaluation</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Split data</a:t>
            </a:r>
            <a:r>
              <a:rPr lang="en-US" sz="2700" spc="-54">
                <a:solidFill>
                  <a:srgbClr val="00385D"/>
                </a:solidFill>
                <a:latin typeface="Poppins"/>
                <a:ea typeface="Poppins"/>
                <a:cs typeface="Poppins"/>
                <a:sym typeface="Poppins"/>
              </a:rPr>
              <a:t>set into training and testing subsets.</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Record training logs, intermediate results, and best-model checkpoints.</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Evaluate using accuracy, precision, recall, and F1-score, focusing on suicidal intent detection.</a:t>
            </a:r>
          </a:p>
          <a:p>
            <a:pPr algn="just">
              <a:lnSpc>
                <a:spcPts val="3780"/>
              </a:lnSpc>
            </a:pPr>
          </a:p>
          <a:p>
            <a:pPr algn="just">
              <a:lnSpc>
                <a:spcPts val="3780"/>
              </a:lnSpc>
            </a:pPr>
            <a:r>
              <a:rPr lang="en-US" b="true" sz="2700" spc="-54">
                <a:solidFill>
                  <a:srgbClr val="00385D"/>
                </a:solidFill>
                <a:latin typeface="Poppins Bold"/>
                <a:ea typeface="Poppins Bold"/>
                <a:cs typeface="Poppins Bold"/>
                <a:sym typeface="Poppins Bold"/>
              </a:rPr>
              <a:t>An</a:t>
            </a:r>
            <a:r>
              <a:rPr lang="en-US" b="true" sz="2700" spc="-54">
                <a:solidFill>
                  <a:srgbClr val="00385D"/>
                </a:solidFill>
                <a:latin typeface="Poppins Bold"/>
                <a:ea typeface="Poppins Bold"/>
                <a:cs typeface="Poppins Bold"/>
                <a:sym typeface="Poppins Bold"/>
              </a:rPr>
              <a:t>alysis and Interpretation</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Analyz</a:t>
            </a:r>
            <a:r>
              <a:rPr lang="en-US" sz="2700" spc="-54">
                <a:solidFill>
                  <a:srgbClr val="00385D"/>
                </a:solidFill>
                <a:latin typeface="Poppins"/>
                <a:ea typeface="Poppins"/>
                <a:cs typeface="Poppins"/>
                <a:sym typeface="Poppins"/>
              </a:rPr>
              <a:t>e experimental results to identify trends, optimal settings, and trade-offs between search meth</a:t>
            </a:r>
            <a:r>
              <a:rPr lang="en-US" sz="2700" spc="-54">
                <a:solidFill>
                  <a:srgbClr val="00385D"/>
                </a:solidFill>
                <a:latin typeface="Poppins"/>
                <a:ea typeface="Poppins"/>
                <a:cs typeface="Poppins"/>
                <a:sym typeface="Poppins"/>
              </a:rPr>
              <a:t>ods.</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Assess how hyperparameter choices</a:t>
            </a:r>
            <a:r>
              <a:rPr lang="en-US" sz="2700" spc="-54">
                <a:solidFill>
                  <a:srgbClr val="00385D"/>
                </a:solidFill>
                <a:latin typeface="Poppins"/>
                <a:ea typeface="Poppins"/>
                <a:cs typeface="Poppins"/>
                <a:sym typeface="Poppins"/>
              </a:rPr>
              <a:t> affect sensitivity to critical mental health cues.</a:t>
            </a:r>
          </a:p>
          <a:p>
            <a:pPr algn="just">
              <a:lnSpc>
                <a:spcPts val="3780"/>
              </a:lnSpc>
            </a:pPr>
          </a:p>
          <a:p>
            <a:pPr algn="just">
              <a:lnSpc>
                <a:spcPts val="3780"/>
              </a:lnSpc>
            </a:pPr>
            <a:r>
              <a:rPr lang="en-US" b="true" sz="2700" spc="-54">
                <a:solidFill>
                  <a:srgbClr val="00385D"/>
                </a:solidFill>
                <a:latin typeface="Poppins Bold"/>
                <a:ea typeface="Poppins Bold"/>
                <a:cs typeface="Poppins Bold"/>
                <a:sym typeface="Poppins Bold"/>
              </a:rPr>
              <a:t>Documentation and Reporting</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Document all procedures, settings, and results for reproducibility.</a:t>
            </a:r>
          </a:p>
          <a:p>
            <a:pPr algn="just" marL="582935" indent="-291467" lvl="1">
              <a:lnSpc>
                <a:spcPts val="3780"/>
              </a:lnSpc>
              <a:buFont typeface="Arial"/>
              <a:buChar char="•"/>
            </a:pPr>
            <a:r>
              <a:rPr lang="en-US" sz="2700" spc="-54">
                <a:solidFill>
                  <a:srgbClr val="00385D"/>
                </a:solidFill>
                <a:latin typeface="Poppins"/>
                <a:ea typeface="Poppins"/>
                <a:cs typeface="Poppins"/>
                <a:sym typeface="Poppins"/>
              </a:rPr>
              <a:t>P</a:t>
            </a:r>
            <a:r>
              <a:rPr lang="en-US" sz="2700" spc="-54">
                <a:solidFill>
                  <a:srgbClr val="00385D"/>
                </a:solidFill>
                <a:latin typeface="Poppins"/>
                <a:ea typeface="Poppins"/>
                <a:cs typeface="Poppins"/>
                <a:sym typeface="Poppins"/>
              </a:rPr>
              <a:t>resent insights to guide future research and practical use of transformer-based models in mental health assessment.</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METHODOLOGY</a:t>
            </a:r>
          </a:p>
        </p:txBody>
      </p:sp>
      <p:sp>
        <p:nvSpPr>
          <p:cNvPr name="TextBox 8" id="8"/>
          <p:cNvSpPr txBox="true"/>
          <p:nvPr/>
        </p:nvSpPr>
        <p:spPr>
          <a:xfrm rot="0">
            <a:off x="1028700" y="3360861"/>
            <a:ext cx="6415877" cy="438467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Used the Sentiment Analysis for Mental Health dataset from Kaggle.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Focus</a:t>
            </a:r>
            <a:r>
              <a:rPr lang="en-US" sz="2499" spc="-49">
                <a:solidFill>
                  <a:srgbClr val="00385D"/>
                </a:solidFill>
                <a:latin typeface="Poppins"/>
                <a:ea typeface="Poppins"/>
                <a:cs typeface="Poppins"/>
                <a:sym typeface="Poppins"/>
              </a:rPr>
              <a:t>ed only on Normal and Suicidal categories for bina</a:t>
            </a:r>
            <a:r>
              <a:rPr lang="en-US" sz="2499" spc="-49">
                <a:solidFill>
                  <a:srgbClr val="00385D"/>
                </a:solidFill>
                <a:latin typeface="Poppins"/>
                <a:ea typeface="Poppins"/>
                <a:cs typeface="Poppins"/>
                <a:sym typeface="Poppins"/>
              </a:rPr>
              <a:t>ry classif</a:t>
            </a:r>
            <a:r>
              <a:rPr lang="en-US" sz="2499" spc="-49">
                <a:solidFill>
                  <a:srgbClr val="00385D"/>
                </a:solidFill>
                <a:latin typeface="Poppins"/>
                <a:ea typeface="Poppins"/>
                <a:cs typeface="Poppins"/>
                <a:sym typeface="Poppins"/>
              </a:rPr>
              <a:t>ication.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Datas</a:t>
            </a:r>
            <a:r>
              <a:rPr lang="en-US" sz="2499" spc="-49">
                <a:solidFill>
                  <a:srgbClr val="00385D"/>
                </a:solidFill>
                <a:latin typeface="Poppins"/>
                <a:ea typeface="Poppins"/>
                <a:cs typeface="Poppins"/>
                <a:sym typeface="Poppins"/>
              </a:rPr>
              <a:t>et </a:t>
            </a:r>
            <a:r>
              <a:rPr lang="en-US" sz="2499" spc="-49">
                <a:solidFill>
                  <a:srgbClr val="00385D"/>
                </a:solidFill>
                <a:latin typeface="Poppins"/>
                <a:ea typeface="Poppins"/>
                <a:cs typeface="Poppins"/>
                <a:sym typeface="Poppins"/>
              </a:rPr>
              <a:t>includes: ID, Status, Statement columns.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a:t>
            </a:r>
            <a:r>
              <a:rPr lang="en-US" sz="2499" spc="-49">
                <a:solidFill>
                  <a:srgbClr val="00385D"/>
                </a:solidFill>
                <a:latin typeface="Poppins"/>
                <a:ea typeface="Poppins"/>
                <a:cs typeface="Poppins"/>
                <a:sym typeface="Poppins"/>
              </a:rPr>
              <a:t>exts</a:t>
            </a:r>
            <a:r>
              <a:rPr lang="en-US" sz="2499" spc="-49">
                <a:solidFill>
                  <a:srgbClr val="00385D"/>
                </a:solidFill>
                <a:latin typeface="Poppins"/>
                <a:ea typeface="Poppins"/>
                <a:cs typeface="Poppins"/>
                <a:sym typeface="Poppins"/>
              </a:rPr>
              <a:t> cons</a:t>
            </a:r>
            <a:r>
              <a:rPr lang="en-US" sz="2499" spc="-49">
                <a:solidFill>
                  <a:srgbClr val="00385D"/>
                </a:solidFill>
                <a:latin typeface="Poppins"/>
                <a:ea typeface="Poppins"/>
                <a:cs typeface="Poppins"/>
                <a:sym typeface="Poppins"/>
              </a:rPr>
              <a:t>ist of re</a:t>
            </a:r>
            <a:r>
              <a:rPr lang="en-US" sz="2499" spc="-49">
                <a:solidFill>
                  <a:srgbClr val="00385D"/>
                </a:solidFill>
                <a:latin typeface="Poppins"/>
                <a:ea typeface="Poppins"/>
                <a:cs typeface="Poppins"/>
                <a:sym typeface="Poppins"/>
              </a:rPr>
              <a:t>al social-media mental-health expressions with informal language.</a:t>
            </a:r>
          </a:p>
          <a:p>
            <a:pPr algn="just">
              <a:lnSpc>
                <a:spcPts val="3499"/>
              </a:lnSpc>
            </a:pP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10" id="10"/>
          <p:cNvSpPr txBox="true"/>
          <p:nvPr/>
        </p:nvSpPr>
        <p:spPr>
          <a:xfrm rot="0">
            <a:off x="1028700" y="2684585"/>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1. Dataset Description</a:t>
            </a:r>
          </a:p>
        </p:txBody>
      </p:sp>
      <p:grpSp>
        <p:nvGrpSpPr>
          <p:cNvPr name="Group 11" id="11"/>
          <p:cNvGrpSpPr/>
          <p:nvPr/>
        </p:nvGrpSpPr>
        <p:grpSpPr>
          <a:xfrm rot="0">
            <a:off x="296119" y="322992"/>
            <a:ext cx="5915033" cy="1202075"/>
            <a:chOff x="0" y="0"/>
            <a:chExt cx="7886711" cy="1602766"/>
          </a:xfrm>
        </p:grpSpPr>
        <p:sp>
          <p:nvSpPr>
            <p:cNvPr name="Freeform 12" id="12"/>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3" id="13"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14" id="14"/>
          <p:cNvSpPr txBox="true"/>
          <p:nvPr/>
        </p:nvSpPr>
        <p:spPr>
          <a:xfrm rot="0">
            <a:off x="8377518" y="3370386"/>
            <a:ext cx="8881782" cy="6340953"/>
          </a:xfrm>
          <a:prstGeom prst="rect">
            <a:avLst/>
          </a:prstGeom>
        </p:spPr>
        <p:txBody>
          <a:bodyPr anchor="t" rtlCol="false" tIns="0" lIns="0" bIns="0" rIns="0">
            <a:spAutoFit/>
          </a:bodyPr>
          <a:lstStyle/>
          <a:p>
            <a:pPr algn="just" marL="487489" indent="-243745" lvl="1">
              <a:lnSpc>
                <a:spcPts val="3161"/>
              </a:lnSpc>
              <a:buFont typeface="Arial"/>
              <a:buChar char="•"/>
            </a:pPr>
            <a:r>
              <a:rPr lang="en-US" sz="2257" spc="-45">
                <a:solidFill>
                  <a:srgbClr val="00385D"/>
                </a:solidFill>
                <a:latin typeface="Poppins"/>
                <a:ea typeface="Poppins"/>
                <a:cs typeface="Poppins"/>
                <a:sym typeface="Poppins"/>
              </a:rPr>
              <a:t>Filtered dataset to keep only Normal and Suicidal labels.</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Applied label encoding: Normal → 0, Suicidal → 1.</a:t>
            </a:r>
          </a:p>
          <a:p>
            <a:pPr algn="just">
              <a:lnSpc>
                <a:spcPts val="3161"/>
              </a:lnSpc>
            </a:pPr>
          </a:p>
          <a:p>
            <a:pPr algn="just">
              <a:lnSpc>
                <a:spcPts val="3161"/>
              </a:lnSpc>
            </a:pPr>
            <a:r>
              <a:rPr lang="en-US" sz="2257" spc="-45">
                <a:solidFill>
                  <a:srgbClr val="00385D"/>
                </a:solidFill>
                <a:latin typeface="Poppins"/>
                <a:ea typeface="Poppins"/>
                <a:cs typeface="Poppins"/>
                <a:sym typeface="Poppins"/>
              </a:rPr>
              <a:t>Performed text cleaning:</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Lowercasing</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R</a:t>
            </a:r>
            <a:r>
              <a:rPr lang="en-US" sz="2257" spc="-45">
                <a:solidFill>
                  <a:srgbClr val="00385D"/>
                </a:solidFill>
                <a:latin typeface="Poppins"/>
                <a:ea typeface="Poppins"/>
                <a:cs typeface="Poppins"/>
                <a:sym typeface="Poppins"/>
              </a:rPr>
              <a:t>emov</a:t>
            </a:r>
            <a:r>
              <a:rPr lang="en-US" sz="2257" spc="-45">
                <a:solidFill>
                  <a:srgbClr val="00385D"/>
                </a:solidFill>
                <a:latin typeface="Poppins"/>
                <a:ea typeface="Poppins"/>
                <a:cs typeface="Poppins"/>
                <a:sym typeface="Poppins"/>
              </a:rPr>
              <a:t>ing</a:t>
            </a:r>
            <a:r>
              <a:rPr lang="en-US" sz="2257" spc="-45">
                <a:solidFill>
                  <a:srgbClr val="00385D"/>
                </a:solidFill>
                <a:latin typeface="Poppins"/>
                <a:ea typeface="Poppins"/>
                <a:cs typeface="Poppins"/>
                <a:sym typeface="Poppins"/>
              </a:rPr>
              <a:t> </a:t>
            </a:r>
            <a:r>
              <a:rPr lang="en-US" sz="2257" spc="-45">
                <a:solidFill>
                  <a:srgbClr val="00385D"/>
                </a:solidFill>
                <a:latin typeface="Poppins"/>
                <a:ea typeface="Poppins"/>
                <a:cs typeface="Poppins"/>
                <a:sym typeface="Poppins"/>
              </a:rPr>
              <a:t>URLs, punctuation, and special characters</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R</a:t>
            </a:r>
            <a:r>
              <a:rPr lang="en-US" sz="2257" spc="-45">
                <a:solidFill>
                  <a:srgbClr val="00385D"/>
                </a:solidFill>
                <a:latin typeface="Poppins"/>
                <a:ea typeface="Poppins"/>
                <a:cs typeface="Poppins"/>
                <a:sym typeface="Poppins"/>
              </a:rPr>
              <a:t>emov</a:t>
            </a:r>
            <a:r>
              <a:rPr lang="en-US" sz="2257" spc="-45">
                <a:solidFill>
                  <a:srgbClr val="00385D"/>
                </a:solidFill>
                <a:latin typeface="Poppins"/>
                <a:ea typeface="Poppins"/>
                <a:cs typeface="Poppins"/>
                <a:sym typeface="Poppins"/>
              </a:rPr>
              <a:t>ing stopwords</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Tokeniz</a:t>
            </a:r>
            <a:r>
              <a:rPr lang="en-US" sz="2257" spc="-45">
                <a:solidFill>
                  <a:srgbClr val="00385D"/>
                </a:solidFill>
                <a:latin typeface="Poppins"/>
                <a:ea typeface="Poppins"/>
                <a:cs typeface="Poppins"/>
                <a:sym typeface="Poppins"/>
              </a:rPr>
              <a:t>ed text using MentalBERT tokenizer (max length = 128).</a:t>
            </a:r>
          </a:p>
          <a:p>
            <a:pPr algn="just">
              <a:lnSpc>
                <a:spcPts val="3161"/>
              </a:lnSpc>
            </a:pPr>
          </a:p>
          <a:p>
            <a:pPr algn="just">
              <a:lnSpc>
                <a:spcPts val="3161"/>
              </a:lnSpc>
            </a:pPr>
            <a:r>
              <a:rPr lang="en-US" sz="2257" spc="-45">
                <a:solidFill>
                  <a:srgbClr val="00385D"/>
                </a:solidFill>
                <a:latin typeface="Poppins"/>
                <a:ea typeface="Poppins"/>
                <a:cs typeface="Poppins"/>
                <a:sym typeface="Poppins"/>
              </a:rPr>
              <a:t>Gen</a:t>
            </a:r>
            <a:r>
              <a:rPr lang="en-US" sz="2257" spc="-45">
                <a:solidFill>
                  <a:srgbClr val="00385D"/>
                </a:solidFill>
                <a:latin typeface="Poppins"/>
                <a:ea typeface="Poppins"/>
                <a:cs typeface="Poppins"/>
                <a:sym typeface="Poppins"/>
              </a:rPr>
              <a:t>e</a:t>
            </a:r>
            <a:r>
              <a:rPr lang="en-US" sz="2257" spc="-45">
                <a:solidFill>
                  <a:srgbClr val="00385D"/>
                </a:solidFill>
                <a:latin typeface="Poppins"/>
                <a:ea typeface="Poppins"/>
                <a:cs typeface="Poppins"/>
                <a:sym typeface="Poppins"/>
              </a:rPr>
              <a:t>r</a:t>
            </a:r>
            <a:r>
              <a:rPr lang="en-US" sz="2257" spc="-45">
                <a:solidFill>
                  <a:srgbClr val="00385D"/>
                </a:solidFill>
                <a:latin typeface="Poppins"/>
                <a:ea typeface="Poppins"/>
                <a:cs typeface="Poppins"/>
                <a:sym typeface="Poppins"/>
              </a:rPr>
              <a:t>at</a:t>
            </a:r>
            <a:r>
              <a:rPr lang="en-US" sz="2257" spc="-45">
                <a:solidFill>
                  <a:srgbClr val="00385D"/>
                </a:solidFill>
                <a:latin typeface="Poppins"/>
                <a:ea typeface="Poppins"/>
                <a:cs typeface="Poppins"/>
                <a:sym typeface="Poppins"/>
              </a:rPr>
              <a:t>ed add</a:t>
            </a:r>
            <a:r>
              <a:rPr lang="en-US" sz="2257" spc="-45">
                <a:solidFill>
                  <a:srgbClr val="00385D"/>
                </a:solidFill>
                <a:latin typeface="Poppins"/>
                <a:ea typeface="Poppins"/>
                <a:cs typeface="Poppins"/>
                <a:sym typeface="Poppins"/>
              </a:rPr>
              <a:t>ition</a:t>
            </a:r>
            <a:r>
              <a:rPr lang="en-US" sz="2257" spc="-45">
                <a:solidFill>
                  <a:srgbClr val="00385D"/>
                </a:solidFill>
                <a:latin typeface="Poppins"/>
                <a:ea typeface="Poppins"/>
                <a:cs typeface="Poppins"/>
                <a:sym typeface="Poppins"/>
              </a:rPr>
              <a:t>al processed columns:</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statement (cleaned text)</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tokens (tokenized ids)</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number_of_characters</a:t>
            </a:r>
          </a:p>
          <a:p>
            <a:pPr algn="just" marL="487489" indent="-243745" lvl="1">
              <a:lnSpc>
                <a:spcPts val="3161"/>
              </a:lnSpc>
              <a:buFont typeface="Arial"/>
              <a:buChar char="•"/>
            </a:pPr>
            <a:r>
              <a:rPr lang="en-US" sz="2257" spc="-45">
                <a:solidFill>
                  <a:srgbClr val="00385D"/>
                </a:solidFill>
                <a:latin typeface="Poppins"/>
                <a:ea typeface="Poppins"/>
                <a:cs typeface="Poppins"/>
                <a:sym typeface="Poppins"/>
              </a:rPr>
              <a:t>number_of_sentences</a:t>
            </a:r>
          </a:p>
          <a:p>
            <a:pPr algn="just">
              <a:lnSpc>
                <a:spcPts val="3161"/>
              </a:lnSpc>
            </a:pPr>
          </a:p>
        </p:txBody>
      </p:sp>
      <p:sp>
        <p:nvSpPr>
          <p:cNvPr name="TextBox 15" id="15"/>
          <p:cNvSpPr txBox="true"/>
          <p:nvPr/>
        </p:nvSpPr>
        <p:spPr>
          <a:xfrm rot="0">
            <a:off x="8377518" y="2684585"/>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2. Data Preprocessing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METHODOLOGY</a:t>
            </a:r>
          </a:p>
        </p:txBody>
      </p:sp>
      <p:sp>
        <p:nvSpPr>
          <p:cNvPr name="TextBox 8" id="8"/>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9" id="9"/>
          <p:cNvGrpSpPr/>
          <p:nvPr/>
        </p:nvGrpSpPr>
        <p:grpSpPr>
          <a:xfrm rot="0">
            <a:off x="296119" y="322992"/>
            <a:ext cx="5915033" cy="1202075"/>
            <a:chOff x="0" y="0"/>
            <a:chExt cx="7886711" cy="1602766"/>
          </a:xfrm>
        </p:grpSpPr>
        <p:sp>
          <p:nvSpPr>
            <p:cNvPr name="Freeform 10" id="10"/>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1" id="11"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12" id="12"/>
          <p:cNvSpPr txBox="true"/>
          <p:nvPr/>
        </p:nvSpPr>
        <p:spPr>
          <a:xfrm rot="0">
            <a:off x="1028700" y="3370386"/>
            <a:ext cx="18548788" cy="56991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Split </a:t>
            </a:r>
            <a:r>
              <a:rPr lang="en-US" sz="2499" spc="-49">
                <a:solidFill>
                  <a:srgbClr val="00385D"/>
                </a:solidFill>
                <a:latin typeface="Poppins"/>
                <a:ea typeface="Poppins"/>
                <a:cs typeface="Poppins"/>
                <a:sym typeface="Poppins"/>
              </a:rPr>
              <a:t>data into 80% training and 20% testing.</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Load</a:t>
            </a:r>
            <a:r>
              <a:rPr lang="en-US" sz="2499" spc="-49">
                <a:solidFill>
                  <a:srgbClr val="00385D"/>
                </a:solidFill>
                <a:latin typeface="Poppins"/>
                <a:ea typeface="Poppins"/>
                <a:cs typeface="Poppins"/>
                <a:sym typeface="Poppins"/>
              </a:rPr>
              <a:t>ed MentalBERT, a domain-specific model for mental</a:t>
            </a:r>
            <a:r>
              <a:rPr lang="en-US" sz="2499" spc="-49">
                <a:solidFill>
                  <a:srgbClr val="00385D"/>
                </a:solidFill>
                <a:latin typeface="Poppins"/>
                <a:ea typeface="Poppins"/>
                <a:cs typeface="Poppins"/>
                <a:sym typeface="Poppins"/>
              </a:rPr>
              <a:t>-he</a:t>
            </a:r>
            <a:r>
              <a:rPr lang="en-US" sz="2499" spc="-49">
                <a:solidFill>
                  <a:srgbClr val="00385D"/>
                </a:solidFill>
                <a:latin typeface="Poppins"/>
                <a:ea typeface="Poppins"/>
                <a:cs typeface="Poppins"/>
                <a:sym typeface="Poppins"/>
              </a:rPr>
              <a:t>alth text.</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U</a:t>
            </a:r>
            <a:r>
              <a:rPr lang="en-US" sz="2499" spc="-49">
                <a:solidFill>
                  <a:srgbClr val="00385D"/>
                </a:solidFill>
                <a:latin typeface="Poppins"/>
                <a:ea typeface="Poppins"/>
                <a:cs typeface="Poppins"/>
                <a:sym typeface="Poppins"/>
              </a:rPr>
              <a:t>se</a:t>
            </a:r>
            <a:r>
              <a:rPr lang="en-US" sz="2499" spc="-49">
                <a:solidFill>
                  <a:srgbClr val="00385D"/>
                </a:solidFill>
                <a:latin typeface="Poppins"/>
                <a:ea typeface="Poppins"/>
                <a:cs typeface="Poppins"/>
                <a:sym typeface="Poppins"/>
              </a:rPr>
              <a:t>d</a:t>
            </a:r>
            <a:r>
              <a:rPr lang="en-US" sz="2499" spc="-49">
                <a:solidFill>
                  <a:srgbClr val="00385D"/>
                </a:solidFill>
                <a:latin typeface="Poppins"/>
                <a:ea typeface="Poppins"/>
                <a:cs typeface="Poppins"/>
                <a:sym typeface="Poppins"/>
              </a:rPr>
              <a:t> </a:t>
            </a:r>
            <a:r>
              <a:rPr lang="en-US" sz="2499" spc="-49">
                <a:solidFill>
                  <a:srgbClr val="00385D"/>
                </a:solidFill>
                <a:latin typeface="Poppins"/>
                <a:ea typeface="Poppins"/>
                <a:cs typeface="Poppins"/>
                <a:sym typeface="Poppins"/>
              </a:rPr>
              <a:t>Hugg</a:t>
            </a:r>
            <a:r>
              <a:rPr lang="en-US" sz="2499" spc="-49">
                <a:solidFill>
                  <a:srgbClr val="00385D"/>
                </a:solidFill>
                <a:latin typeface="Poppins"/>
                <a:ea typeface="Poppins"/>
                <a:cs typeface="Poppins"/>
                <a:sym typeface="Poppins"/>
              </a:rPr>
              <a:t>ing Face API authentication t</a:t>
            </a:r>
            <a:r>
              <a:rPr lang="en-US" sz="2499" spc="-49">
                <a:solidFill>
                  <a:srgbClr val="00385D"/>
                </a:solidFill>
                <a:latin typeface="Poppins"/>
                <a:ea typeface="Poppins"/>
                <a:cs typeface="Poppins"/>
                <a:sym typeface="Poppins"/>
              </a:rPr>
              <a:t>o</a:t>
            </a:r>
            <a:r>
              <a:rPr lang="en-US" sz="2499" spc="-49">
                <a:solidFill>
                  <a:srgbClr val="00385D"/>
                </a:solidFill>
                <a:latin typeface="Poppins"/>
                <a:ea typeface="Poppins"/>
                <a:cs typeface="Poppins"/>
                <a:sym typeface="Poppins"/>
              </a:rPr>
              <a:t> access </a:t>
            </a:r>
            <a:r>
              <a:rPr lang="en-US" sz="2499" spc="-49">
                <a:solidFill>
                  <a:srgbClr val="00385D"/>
                </a:solidFill>
                <a:latin typeface="Poppins"/>
                <a:ea typeface="Poppins"/>
                <a:cs typeface="Poppins"/>
                <a:sym typeface="Poppins"/>
              </a:rPr>
              <a:t>m</a:t>
            </a:r>
            <a:r>
              <a:rPr lang="en-US" sz="2499" spc="-49">
                <a:solidFill>
                  <a:srgbClr val="00385D"/>
                </a:solidFill>
                <a:latin typeface="Poppins"/>
                <a:ea typeface="Poppins"/>
                <a:cs typeface="Poppins"/>
                <a:sym typeface="Poppins"/>
              </a:rPr>
              <a:t>o</a:t>
            </a:r>
            <a:r>
              <a:rPr lang="en-US" sz="2499" spc="-49">
                <a:solidFill>
                  <a:srgbClr val="00385D"/>
                </a:solidFill>
                <a:latin typeface="Poppins"/>
                <a:ea typeface="Poppins"/>
                <a:cs typeface="Poppins"/>
                <a:sym typeface="Poppins"/>
              </a:rPr>
              <a:t>d</a:t>
            </a:r>
            <a:r>
              <a:rPr lang="en-US" sz="2499" spc="-49">
                <a:solidFill>
                  <a:srgbClr val="00385D"/>
                </a:solidFill>
                <a:latin typeface="Poppins"/>
                <a:ea typeface="Poppins"/>
                <a:cs typeface="Poppins"/>
                <a:sym typeface="Poppins"/>
              </a:rPr>
              <a:t>el.</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Used Trainer API and DataLoader for batching, evaluation, and GPU optimization.</a:t>
            </a:r>
          </a:p>
          <a:p>
            <a:pPr algn="just">
              <a:lnSpc>
                <a:spcPts val="3499"/>
              </a:lnSpc>
            </a:pPr>
          </a:p>
          <a:p>
            <a:pPr algn="just">
              <a:lnSpc>
                <a:spcPts val="3499"/>
              </a:lnSpc>
            </a:pPr>
            <a:r>
              <a:rPr lang="en-US" sz="2499" spc="-49">
                <a:solidFill>
                  <a:srgbClr val="00385D"/>
                </a:solidFill>
                <a:latin typeface="Poppins"/>
                <a:ea typeface="Poppins"/>
                <a:cs typeface="Poppins"/>
                <a:sym typeface="Poppins"/>
              </a:rPr>
              <a:t>Adjusted key hyperparameters across experiments: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Learning rate</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Weight decay</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Epoch count</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Logging steps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Save strategy (epoch-based or step-based)</a:t>
            </a:r>
          </a:p>
          <a:p>
            <a:pPr algn="just">
              <a:lnSpc>
                <a:spcPts val="3499"/>
              </a:lnSpc>
            </a:pPr>
          </a:p>
          <a:p>
            <a:pPr algn="just">
              <a:lnSpc>
                <a:spcPts val="3499"/>
              </a:lnSpc>
            </a:pPr>
          </a:p>
        </p:txBody>
      </p:sp>
      <p:sp>
        <p:nvSpPr>
          <p:cNvPr name="TextBox 13" id="13"/>
          <p:cNvSpPr txBox="true"/>
          <p:nvPr/>
        </p:nvSpPr>
        <p:spPr>
          <a:xfrm rot="0">
            <a:off x="1028700" y="2684585"/>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3. Model Description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METHODOLOGY</a:t>
            </a:r>
          </a:p>
        </p:txBody>
      </p:sp>
      <p:sp>
        <p:nvSpPr>
          <p:cNvPr name="TextBox 8" id="8"/>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9" id="9"/>
          <p:cNvGrpSpPr/>
          <p:nvPr/>
        </p:nvGrpSpPr>
        <p:grpSpPr>
          <a:xfrm rot="0">
            <a:off x="296119" y="322992"/>
            <a:ext cx="5915033" cy="1202075"/>
            <a:chOff x="0" y="0"/>
            <a:chExt cx="7886711" cy="1602766"/>
          </a:xfrm>
        </p:grpSpPr>
        <p:sp>
          <p:nvSpPr>
            <p:cNvPr name="Freeform 10" id="10"/>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1" id="11"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12" id="12"/>
          <p:cNvSpPr txBox="true"/>
          <p:nvPr/>
        </p:nvSpPr>
        <p:spPr>
          <a:xfrm rot="0">
            <a:off x="942975" y="3261660"/>
            <a:ext cx="8653182" cy="56991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Conduct</a:t>
            </a:r>
            <a:r>
              <a:rPr lang="en-US" sz="2499" spc="-49">
                <a:solidFill>
                  <a:srgbClr val="00385D"/>
                </a:solidFill>
                <a:latin typeface="Poppins"/>
                <a:ea typeface="Poppins"/>
                <a:cs typeface="Poppins"/>
                <a:sym typeface="Poppins"/>
              </a:rPr>
              <a:t>ed 10 fine</a:t>
            </a:r>
            <a:r>
              <a:rPr lang="en-US" sz="2499" spc="-49">
                <a:solidFill>
                  <a:srgbClr val="00385D"/>
                </a:solidFill>
                <a:latin typeface="Poppins"/>
                <a:ea typeface="Poppins"/>
                <a:cs typeface="Poppins"/>
                <a:sym typeface="Poppins"/>
              </a:rPr>
              <a:t>-</a:t>
            </a:r>
            <a:r>
              <a:rPr lang="en-US" sz="2499" spc="-49">
                <a:solidFill>
                  <a:srgbClr val="00385D"/>
                </a:solidFill>
                <a:latin typeface="Poppins"/>
                <a:ea typeface="Poppins"/>
                <a:cs typeface="Poppins"/>
                <a:sym typeface="Poppins"/>
              </a:rPr>
              <a:t>t</a:t>
            </a:r>
            <a:r>
              <a:rPr lang="en-US" sz="2499" spc="-49">
                <a:solidFill>
                  <a:srgbClr val="00385D"/>
                </a:solidFill>
                <a:latin typeface="Poppins"/>
                <a:ea typeface="Poppins"/>
                <a:cs typeface="Poppins"/>
                <a:sym typeface="Poppins"/>
              </a:rPr>
              <a:t>un</a:t>
            </a:r>
            <a:r>
              <a:rPr lang="en-US" sz="2499" spc="-49">
                <a:solidFill>
                  <a:srgbClr val="00385D"/>
                </a:solidFill>
                <a:latin typeface="Poppins"/>
                <a:ea typeface="Poppins"/>
                <a:cs typeface="Poppins"/>
                <a:sym typeface="Poppins"/>
              </a:rPr>
              <a:t>ing experiments per </a:t>
            </a:r>
            <a:r>
              <a:rPr lang="en-US" sz="2499" spc="-49">
                <a:solidFill>
                  <a:srgbClr val="00385D"/>
                </a:solidFill>
                <a:latin typeface="Poppins"/>
                <a:ea typeface="Poppins"/>
                <a:cs typeface="Poppins"/>
                <a:sym typeface="Poppins"/>
              </a:rPr>
              <a:t>memb</a:t>
            </a:r>
            <a:r>
              <a:rPr lang="en-US" sz="2499" spc="-49">
                <a:solidFill>
                  <a:srgbClr val="00385D"/>
                </a:solidFill>
                <a:latin typeface="Poppins"/>
                <a:ea typeface="Poppins"/>
                <a:cs typeface="Poppins"/>
                <a:sym typeface="Poppins"/>
              </a:rPr>
              <a:t>er.</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K</a:t>
            </a:r>
            <a:r>
              <a:rPr lang="en-US" sz="2499" spc="-49">
                <a:solidFill>
                  <a:srgbClr val="00385D"/>
                </a:solidFill>
                <a:latin typeface="Poppins"/>
                <a:ea typeface="Poppins"/>
                <a:cs typeface="Poppins"/>
                <a:sym typeface="Poppins"/>
              </a:rPr>
              <a:t>ept dataset, evaluation strategy, and environment constant.</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Varied hyperparameters to observe effects 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a:t>
            </a:r>
            <a:r>
              <a:rPr lang="en-US" sz="2499" spc="-49">
                <a:solidFill>
                  <a:srgbClr val="00385D"/>
                </a:solidFill>
                <a:latin typeface="Poppins"/>
                <a:ea typeface="Poppins"/>
                <a:cs typeface="Poppins"/>
                <a:sym typeface="Poppins"/>
              </a:rPr>
              <a:t>raining stability</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Loss curves</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Evaluation performance</a:t>
            </a:r>
          </a:p>
          <a:p>
            <a:pPr algn="just">
              <a:lnSpc>
                <a:spcPts val="3499"/>
              </a:lnSpc>
            </a:pPr>
          </a:p>
          <a:p>
            <a:pPr algn="just">
              <a:lnSpc>
                <a:spcPts val="3499"/>
              </a:lnSpc>
            </a:pPr>
            <a:r>
              <a:rPr lang="en-US" sz="2499" spc="-49">
                <a:solidFill>
                  <a:srgbClr val="00385D"/>
                </a:solidFill>
                <a:latin typeface="Poppins"/>
                <a:ea typeface="Poppins"/>
                <a:cs typeface="Poppins"/>
                <a:sym typeface="Poppins"/>
              </a:rPr>
              <a:t>Selected best models based 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Accuracy</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Precision</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Recall</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F1-score</a:t>
            </a:r>
          </a:p>
        </p:txBody>
      </p:sp>
      <p:sp>
        <p:nvSpPr>
          <p:cNvPr name="TextBox 13" id="13"/>
          <p:cNvSpPr txBox="true"/>
          <p:nvPr/>
        </p:nvSpPr>
        <p:spPr>
          <a:xfrm rot="0">
            <a:off x="1476643" y="2575860"/>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Fine-Tuning Process</a:t>
            </a:r>
          </a:p>
        </p:txBody>
      </p:sp>
      <p:sp>
        <p:nvSpPr>
          <p:cNvPr name="TextBox 14" id="14"/>
          <p:cNvSpPr txBox="true"/>
          <p:nvPr/>
        </p:nvSpPr>
        <p:spPr>
          <a:xfrm rot="0">
            <a:off x="9770385" y="3261660"/>
            <a:ext cx="7488915" cy="438467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Expl</a:t>
            </a:r>
            <a:r>
              <a:rPr lang="en-US" sz="2499" spc="-49">
                <a:solidFill>
                  <a:srgbClr val="00385D"/>
                </a:solidFill>
                <a:latin typeface="Poppins"/>
                <a:ea typeface="Poppins"/>
                <a:cs typeface="Poppins"/>
                <a:sym typeface="Poppins"/>
              </a:rPr>
              <a:t>or</a:t>
            </a:r>
            <a:r>
              <a:rPr lang="en-US" sz="2499" spc="-49">
                <a:solidFill>
                  <a:srgbClr val="00385D"/>
                </a:solidFill>
                <a:latin typeface="Poppins"/>
                <a:ea typeface="Poppins"/>
                <a:cs typeface="Poppins"/>
                <a:sym typeface="Poppins"/>
              </a:rPr>
              <a:t>ed wide ranges of hyperparameters randomly.</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a:t>
            </a:r>
            <a:r>
              <a:rPr lang="en-US" sz="2499" spc="-49">
                <a:solidFill>
                  <a:srgbClr val="00385D"/>
                </a:solidFill>
                <a:latin typeface="Poppins"/>
                <a:ea typeface="Poppins"/>
                <a:cs typeface="Poppins"/>
                <a:sym typeface="Poppins"/>
              </a:rPr>
              <a:t>ested combinations of:</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Learning rate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Weight decay</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Epochs</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Save strategy</a:t>
            </a: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Identified best-performing random trial per member using evaluation metrics.</a:t>
            </a:r>
          </a:p>
          <a:p>
            <a:pPr algn="just">
              <a:lnSpc>
                <a:spcPts val="3499"/>
              </a:lnSpc>
            </a:pPr>
          </a:p>
        </p:txBody>
      </p:sp>
      <p:sp>
        <p:nvSpPr>
          <p:cNvPr name="TextBox 15" id="15"/>
          <p:cNvSpPr txBox="true"/>
          <p:nvPr/>
        </p:nvSpPr>
        <p:spPr>
          <a:xfrm rot="0">
            <a:off x="10060758" y="2654026"/>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Random Search Optimization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079061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METHODOLOGY</a:t>
            </a:r>
          </a:p>
        </p:txBody>
      </p:sp>
      <p:sp>
        <p:nvSpPr>
          <p:cNvPr name="TextBox 8" id="8"/>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9" id="9"/>
          <p:cNvGrpSpPr/>
          <p:nvPr/>
        </p:nvGrpSpPr>
        <p:grpSpPr>
          <a:xfrm rot="0">
            <a:off x="296119" y="322992"/>
            <a:ext cx="5915033" cy="1202075"/>
            <a:chOff x="0" y="0"/>
            <a:chExt cx="7886711" cy="1602766"/>
          </a:xfrm>
        </p:grpSpPr>
        <p:sp>
          <p:nvSpPr>
            <p:cNvPr name="Freeform 10" id="10"/>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1" id="11"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12" id="12"/>
          <p:cNvSpPr txBox="true"/>
          <p:nvPr/>
        </p:nvSpPr>
        <p:spPr>
          <a:xfrm rot="0">
            <a:off x="1028700" y="3483437"/>
            <a:ext cx="7577418" cy="3999230"/>
          </a:xfrm>
          <a:prstGeom prst="rect">
            <a:avLst/>
          </a:prstGeom>
        </p:spPr>
        <p:txBody>
          <a:bodyPr anchor="t" rtlCol="false" tIns="0" lIns="0" bIns="0" rIns="0">
            <a:spAutoFit/>
          </a:bodyPr>
          <a:lstStyle/>
          <a:p>
            <a:pPr algn="just" marL="496571" indent="-248285" lvl="1">
              <a:lnSpc>
                <a:spcPts val="3220"/>
              </a:lnSpc>
              <a:buFont typeface="Arial"/>
              <a:buChar char="•"/>
            </a:pPr>
            <a:r>
              <a:rPr lang="en-US" sz="2300" spc="-46">
                <a:solidFill>
                  <a:srgbClr val="00385D"/>
                </a:solidFill>
                <a:latin typeface="Poppins"/>
                <a:ea typeface="Poppins"/>
                <a:cs typeface="Poppins"/>
                <a:sym typeface="Poppins"/>
              </a:rPr>
              <a:t>Tes</a:t>
            </a:r>
            <a:r>
              <a:rPr lang="en-US" sz="2300" spc="-46">
                <a:solidFill>
                  <a:srgbClr val="00385D"/>
                </a:solidFill>
                <a:latin typeface="Poppins"/>
                <a:ea typeface="Poppins"/>
                <a:cs typeface="Poppins"/>
                <a:sym typeface="Poppins"/>
              </a:rPr>
              <a:t>t</a:t>
            </a:r>
            <a:r>
              <a:rPr lang="en-US" sz="2300" spc="-46">
                <a:solidFill>
                  <a:srgbClr val="00385D"/>
                </a:solidFill>
                <a:latin typeface="Poppins"/>
                <a:ea typeface="Poppins"/>
                <a:cs typeface="Poppins"/>
                <a:sym typeface="Poppins"/>
              </a:rPr>
              <a:t>ed all possible comb</a:t>
            </a:r>
            <a:r>
              <a:rPr lang="en-US" sz="2300" spc="-46">
                <a:solidFill>
                  <a:srgbClr val="00385D"/>
                </a:solidFill>
                <a:latin typeface="Poppins"/>
                <a:ea typeface="Poppins"/>
                <a:cs typeface="Poppins"/>
                <a:sym typeface="Poppins"/>
              </a:rPr>
              <a:t>in</a:t>
            </a:r>
            <a:r>
              <a:rPr lang="en-US" sz="2300" spc="-46">
                <a:solidFill>
                  <a:srgbClr val="00385D"/>
                </a:solidFill>
                <a:latin typeface="Poppins"/>
                <a:ea typeface="Poppins"/>
                <a:cs typeface="Poppins"/>
                <a:sym typeface="Poppins"/>
              </a:rPr>
              <a:t>ations from f</a:t>
            </a:r>
            <a:r>
              <a:rPr lang="en-US" sz="2300" spc="-46">
                <a:solidFill>
                  <a:srgbClr val="00385D"/>
                </a:solidFill>
                <a:latin typeface="Poppins"/>
                <a:ea typeface="Poppins"/>
                <a:cs typeface="Poppins"/>
                <a:sym typeface="Poppins"/>
              </a:rPr>
              <a:t>ixed hyperparameter lists.</a:t>
            </a:r>
          </a:p>
          <a:p>
            <a:pPr algn="just">
              <a:lnSpc>
                <a:spcPts val="3220"/>
              </a:lnSpc>
            </a:pPr>
          </a:p>
          <a:p>
            <a:pPr algn="just">
              <a:lnSpc>
                <a:spcPts val="3220"/>
              </a:lnSpc>
            </a:pPr>
            <a:r>
              <a:rPr lang="en-US" sz="2300" spc="-46">
                <a:solidFill>
                  <a:srgbClr val="00385D"/>
                </a:solidFill>
                <a:latin typeface="Poppins"/>
                <a:ea typeface="Poppins"/>
                <a:cs typeface="Poppins"/>
                <a:sym typeface="Poppins"/>
              </a:rPr>
              <a:t>Compared systematically:</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Learning rates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Batch sizes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Epoch counts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Weight decay values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Selected most stable and accurate configuration.</a:t>
            </a:r>
          </a:p>
          <a:p>
            <a:pPr algn="just">
              <a:lnSpc>
                <a:spcPts val="3220"/>
              </a:lnSpc>
            </a:pPr>
          </a:p>
        </p:txBody>
      </p:sp>
      <p:sp>
        <p:nvSpPr>
          <p:cNvPr name="TextBox 13" id="13"/>
          <p:cNvSpPr txBox="true"/>
          <p:nvPr/>
        </p:nvSpPr>
        <p:spPr>
          <a:xfrm rot="0">
            <a:off x="1184013" y="2799697"/>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 Grid Search Optimization</a:t>
            </a:r>
          </a:p>
        </p:txBody>
      </p:sp>
      <p:sp>
        <p:nvSpPr>
          <p:cNvPr name="TextBox 14" id="14"/>
          <p:cNvSpPr txBox="true"/>
          <p:nvPr/>
        </p:nvSpPr>
        <p:spPr>
          <a:xfrm rot="0">
            <a:off x="9144000" y="3426191"/>
            <a:ext cx="8115300" cy="5599430"/>
          </a:xfrm>
          <a:prstGeom prst="rect">
            <a:avLst/>
          </a:prstGeom>
        </p:spPr>
        <p:txBody>
          <a:bodyPr anchor="t" rtlCol="false" tIns="0" lIns="0" bIns="0" rIns="0">
            <a:spAutoFit/>
          </a:bodyPr>
          <a:lstStyle/>
          <a:p>
            <a:pPr algn="just" marL="496571" indent="-248285" lvl="1">
              <a:lnSpc>
                <a:spcPts val="3220"/>
              </a:lnSpc>
              <a:buFont typeface="Arial"/>
              <a:buChar char="•"/>
            </a:pPr>
            <a:r>
              <a:rPr lang="en-US" sz="2300" spc="-46">
                <a:solidFill>
                  <a:srgbClr val="00385D"/>
                </a:solidFill>
                <a:latin typeface="Poppins"/>
                <a:ea typeface="Poppins"/>
                <a:cs typeface="Poppins"/>
                <a:sym typeface="Poppins"/>
              </a:rPr>
              <a:t>C</a:t>
            </a:r>
            <a:r>
              <a:rPr lang="en-US" sz="2300" spc="-46">
                <a:solidFill>
                  <a:srgbClr val="00385D"/>
                </a:solidFill>
                <a:latin typeface="Poppins"/>
                <a:ea typeface="Poppins"/>
                <a:cs typeface="Poppins"/>
                <a:sym typeface="Poppins"/>
              </a:rPr>
              <a:t>ompar</a:t>
            </a:r>
            <a:r>
              <a:rPr lang="en-US" sz="2300" spc="-46">
                <a:solidFill>
                  <a:srgbClr val="00385D"/>
                </a:solidFill>
                <a:latin typeface="Poppins"/>
                <a:ea typeface="Poppins"/>
                <a:cs typeface="Poppins"/>
                <a:sym typeface="Poppins"/>
              </a:rPr>
              <a:t>ed performance of all models from each member.</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Analyzed trends (loss reduction, model confidence, misclassification on ambiguous texts).</a:t>
            </a:r>
          </a:p>
          <a:p>
            <a:pPr algn="just">
              <a:lnSpc>
                <a:spcPts val="3220"/>
              </a:lnSpc>
            </a:pPr>
          </a:p>
          <a:p>
            <a:pPr algn="just">
              <a:lnSpc>
                <a:spcPts val="3220"/>
              </a:lnSpc>
            </a:pPr>
            <a:r>
              <a:rPr lang="en-US" sz="2300" spc="-46">
                <a:solidFill>
                  <a:srgbClr val="00385D"/>
                </a:solidFill>
                <a:latin typeface="Poppins"/>
                <a:ea typeface="Poppins"/>
                <a:cs typeface="Poppins"/>
                <a:sym typeface="Poppins"/>
              </a:rPr>
              <a:t>Evaluated final results across: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Bas</a:t>
            </a:r>
            <a:r>
              <a:rPr lang="en-US" sz="2300" spc="-46">
                <a:solidFill>
                  <a:srgbClr val="00385D"/>
                </a:solidFill>
                <a:latin typeface="Poppins"/>
                <a:ea typeface="Poppins"/>
                <a:cs typeface="Poppins"/>
                <a:sym typeface="Poppins"/>
              </a:rPr>
              <a:t>e fine-tuned models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Random Search</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Grid </a:t>
            </a:r>
            <a:r>
              <a:rPr lang="en-US" sz="2300" spc="-46">
                <a:solidFill>
                  <a:srgbClr val="00385D"/>
                </a:solidFill>
                <a:latin typeface="Poppins"/>
                <a:ea typeface="Poppins"/>
                <a:cs typeface="Poppins"/>
                <a:sym typeface="Poppins"/>
              </a:rPr>
              <a:t>Search</a:t>
            </a:r>
          </a:p>
          <a:p>
            <a:pPr algn="just">
              <a:lnSpc>
                <a:spcPts val="3220"/>
              </a:lnSpc>
            </a:pPr>
          </a:p>
          <a:p>
            <a:pPr algn="just">
              <a:lnSpc>
                <a:spcPts val="3220"/>
              </a:lnSpc>
            </a:pPr>
            <a:r>
              <a:rPr lang="en-US" sz="2300" spc="-46">
                <a:solidFill>
                  <a:srgbClr val="00385D"/>
                </a:solidFill>
                <a:latin typeface="Poppins"/>
                <a:ea typeface="Poppins"/>
                <a:cs typeface="Poppins"/>
                <a:sym typeface="Poppins"/>
              </a:rPr>
              <a:t>Identified best-performing models:</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Tejada → Best base model</a:t>
            </a:r>
          </a:p>
          <a:p>
            <a:pPr algn="just" marL="496571" indent="-248285" lvl="1">
              <a:lnSpc>
                <a:spcPts val="3220"/>
              </a:lnSpc>
              <a:buFont typeface="Arial"/>
              <a:buChar char="•"/>
            </a:pPr>
            <a:r>
              <a:rPr lang="en-US" sz="2300" spc="-46">
                <a:solidFill>
                  <a:srgbClr val="00385D"/>
                </a:solidFill>
                <a:latin typeface="Poppins"/>
                <a:ea typeface="Poppins"/>
                <a:cs typeface="Poppins"/>
                <a:sym typeface="Poppins"/>
              </a:rPr>
              <a:t>Almazan → Best after hyperparameter tuning</a:t>
            </a:r>
          </a:p>
          <a:p>
            <a:pPr algn="just">
              <a:lnSpc>
                <a:spcPts val="3220"/>
              </a:lnSpc>
            </a:pPr>
          </a:p>
        </p:txBody>
      </p:sp>
      <p:sp>
        <p:nvSpPr>
          <p:cNvPr name="TextBox 15" id="15"/>
          <p:cNvSpPr txBox="true"/>
          <p:nvPr/>
        </p:nvSpPr>
        <p:spPr>
          <a:xfrm rot="0">
            <a:off x="9434373" y="2799697"/>
            <a:ext cx="6415877" cy="523875"/>
          </a:xfrm>
          <a:prstGeom prst="rect">
            <a:avLst/>
          </a:prstGeom>
        </p:spPr>
        <p:txBody>
          <a:bodyPr anchor="t" rtlCol="false" tIns="0" lIns="0" bIns="0" rIns="0">
            <a:spAutoFit/>
          </a:bodyPr>
          <a:lstStyle/>
          <a:p>
            <a:pPr algn="l">
              <a:lnSpc>
                <a:spcPts val="4199"/>
              </a:lnSpc>
            </a:pPr>
            <a:r>
              <a:rPr lang="en-US" sz="2999" spc="-59" b="true">
                <a:solidFill>
                  <a:srgbClr val="00385D"/>
                </a:solidFill>
                <a:latin typeface="Poppins Bold"/>
                <a:ea typeface="Poppins Bold"/>
                <a:cs typeface="Poppins Bold"/>
                <a:sym typeface="Poppins Bold"/>
              </a:rPr>
              <a:t>Analysis &amp; Interpretation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4517984" cy="977055"/>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RESULTS | FINE-TUNING</a:t>
            </a:r>
          </a:p>
        </p:txBody>
      </p:sp>
      <p:sp>
        <p:nvSpPr>
          <p:cNvPr name="TextBox 8" id="8"/>
          <p:cNvSpPr txBox="true"/>
          <p:nvPr/>
        </p:nvSpPr>
        <p:spPr>
          <a:xfrm rot="0">
            <a:off x="1028700" y="2808410"/>
            <a:ext cx="16230600" cy="613727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Tejada performed the best among the three base models.</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Lowest evaluation loss: 0.075</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High accuracy: 0.98</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Strong F1-score: 0.975 (balanced precision and recall)</a:t>
            </a:r>
          </a:p>
          <a:p>
            <a:pPr algn="just">
              <a:lnSpc>
                <a:spcPts val="3499"/>
              </a:lnSpc>
            </a:pP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Almazan had slightly lower performance: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Evaluation loss: 0.0796</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Accuracy and F1-scor</a:t>
            </a:r>
            <a:r>
              <a:rPr lang="en-US" sz="2499" spc="-49">
                <a:solidFill>
                  <a:srgbClr val="00385D"/>
                </a:solidFill>
                <a:latin typeface="Poppins"/>
                <a:ea typeface="Poppins"/>
                <a:cs typeface="Poppins"/>
                <a:sym typeface="Poppins"/>
              </a:rPr>
              <a:t>e slightly lower than Tejada</a:t>
            </a:r>
          </a:p>
          <a:p>
            <a:pPr algn="just">
              <a:lnSpc>
                <a:spcPts val="3499"/>
              </a:lnSpc>
            </a:pP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Pajanustan S. was the least reliable: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Highest evaluation loss: 0.1463</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Lower accuracy and F1-score</a:t>
            </a:r>
          </a:p>
          <a:p>
            <a:pPr algn="just">
              <a:lnSpc>
                <a:spcPts val="3499"/>
              </a:lnSpc>
            </a:pPr>
          </a:p>
          <a:p>
            <a:pPr algn="just">
              <a:lnSpc>
                <a:spcPts val="3499"/>
              </a:lnSpc>
            </a:pPr>
            <a:r>
              <a:rPr lang="en-US" sz="2499" spc="-49">
                <a:solidFill>
                  <a:srgbClr val="00385D"/>
                </a:solidFill>
                <a:latin typeface="Poppins"/>
                <a:ea typeface="Poppins"/>
                <a:cs typeface="Poppins"/>
                <a:sym typeface="Poppins"/>
              </a:rPr>
              <a:t>Tejada is the most stable and dependable model for mental health text classification.</a:t>
            </a: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4517984" cy="977055"/>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RESULTS | RANDOM SEARCH</a:t>
            </a:r>
          </a:p>
        </p:txBody>
      </p:sp>
      <p:sp>
        <p:nvSpPr>
          <p:cNvPr name="TextBox 8" id="8"/>
          <p:cNvSpPr txBox="true"/>
          <p:nvPr/>
        </p:nvSpPr>
        <p:spPr>
          <a:xfrm rot="0">
            <a:off x="1028700" y="2808410"/>
            <a:ext cx="16230600" cy="613727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Almazan performed best with Random Search:</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Highest accuracy: 0.9807</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Highes</a:t>
            </a:r>
            <a:r>
              <a:rPr lang="en-US" sz="2499" spc="-49">
                <a:solidFill>
                  <a:srgbClr val="00385D"/>
                </a:solidFill>
                <a:latin typeface="Poppins"/>
                <a:ea typeface="Poppins"/>
                <a:cs typeface="Poppins"/>
                <a:sym typeface="Poppins"/>
              </a:rPr>
              <a:t>t F1-score: 0.9807 (balanced precision and recall)</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Predictions were consistent and confident</a:t>
            </a:r>
          </a:p>
          <a:p>
            <a:pPr algn="just">
              <a:lnSpc>
                <a:spcPts val="3499"/>
              </a:lnSpc>
            </a:pP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Tej</a:t>
            </a:r>
            <a:r>
              <a:rPr lang="en-US" sz="2499" spc="-49">
                <a:solidFill>
                  <a:srgbClr val="00385D"/>
                </a:solidFill>
                <a:latin typeface="Poppins"/>
                <a:ea typeface="Poppins"/>
                <a:cs typeface="Poppins"/>
                <a:sym typeface="Poppins"/>
              </a:rPr>
              <a:t>ada had slightly lower performance: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Accuracy: 0.9804</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F1-scor</a:t>
            </a:r>
            <a:r>
              <a:rPr lang="en-US" sz="2499" spc="-49">
                <a:solidFill>
                  <a:srgbClr val="00385D"/>
                </a:solidFill>
                <a:latin typeface="Poppins"/>
                <a:ea typeface="Poppins"/>
                <a:cs typeface="Poppins"/>
                <a:sym typeface="Poppins"/>
              </a:rPr>
              <a:t>e: 0.9803</a:t>
            </a:r>
          </a:p>
          <a:p>
            <a:pPr algn="just">
              <a:lnSpc>
                <a:spcPts val="3499"/>
              </a:lnSpc>
            </a:pP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Pajanustan S. was the least reliable: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A</a:t>
            </a:r>
            <a:r>
              <a:rPr lang="en-US" sz="2499" spc="-49">
                <a:solidFill>
                  <a:srgbClr val="00385D"/>
                </a:solidFill>
                <a:latin typeface="Poppins"/>
                <a:ea typeface="Poppins"/>
                <a:cs typeface="Poppins"/>
                <a:sym typeface="Poppins"/>
              </a:rPr>
              <a:t>ccuracy: 0.9605</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F1-score: 0.9604</a:t>
            </a:r>
          </a:p>
          <a:p>
            <a:pPr algn="just">
              <a:lnSpc>
                <a:spcPts val="3499"/>
              </a:lnSpc>
            </a:pPr>
          </a:p>
          <a:p>
            <a:pPr algn="just">
              <a:lnSpc>
                <a:spcPts val="3499"/>
              </a:lnSpc>
            </a:pPr>
            <a:r>
              <a:rPr lang="en-US" sz="2499" spc="-49">
                <a:solidFill>
                  <a:srgbClr val="00385D"/>
                </a:solidFill>
                <a:latin typeface="Poppins"/>
                <a:ea typeface="Poppins"/>
                <a:cs typeface="Poppins"/>
                <a:sym typeface="Poppins"/>
              </a:rPr>
              <a:t>Almazan is the most stable and dependable model from Random Search experiments.</a:t>
            </a: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4517984" cy="977055"/>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RESULTS | GRID SEARCH</a:t>
            </a:r>
          </a:p>
        </p:txBody>
      </p:sp>
      <p:sp>
        <p:nvSpPr>
          <p:cNvPr name="TextBox 8" id="8"/>
          <p:cNvSpPr txBox="true"/>
          <p:nvPr/>
        </p:nvSpPr>
        <p:spPr>
          <a:xfrm rot="0">
            <a:off x="1028700" y="2808410"/>
            <a:ext cx="16230600" cy="6137275"/>
          </a:xfrm>
          <a:prstGeom prst="rect">
            <a:avLst/>
          </a:prstGeom>
        </p:spPr>
        <p:txBody>
          <a:bodyPr anchor="t" rtlCol="false" tIns="0" lIns="0" bIns="0" rIns="0">
            <a:spAutoFit/>
          </a:bodyPr>
          <a:lstStyle/>
          <a:p>
            <a:pPr algn="just" marL="539749" indent="-269875" lvl="1">
              <a:lnSpc>
                <a:spcPts val="3499"/>
              </a:lnSpc>
              <a:buFont typeface="Arial"/>
              <a:buChar char="•"/>
            </a:pPr>
            <a:r>
              <a:rPr lang="en-US" sz="2499" spc="-49">
                <a:solidFill>
                  <a:srgbClr val="00385D"/>
                </a:solidFill>
                <a:latin typeface="Poppins"/>
                <a:ea typeface="Poppins"/>
                <a:cs typeface="Poppins"/>
                <a:sym typeface="Poppins"/>
              </a:rPr>
              <a:t>Almazan performed best with Grid Search:</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Highest accuracy: 0.9813</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Highes</a:t>
            </a:r>
            <a:r>
              <a:rPr lang="en-US" sz="2499" spc="-49">
                <a:solidFill>
                  <a:srgbClr val="00385D"/>
                </a:solidFill>
                <a:latin typeface="Poppins"/>
                <a:ea typeface="Poppins"/>
                <a:cs typeface="Poppins"/>
                <a:sym typeface="Poppins"/>
              </a:rPr>
              <a:t>t F1-score: 0.9813 (balanced precision and recall)</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Most consistent and confident predictions</a:t>
            </a:r>
          </a:p>
          <a:p>
            <a:pPr algn="just">
              <a:lnSpc>
                <a:spcPts val="3499"/>
              </a:lnSpc>
            </a:pP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Tej</a:t>
            </a:r>
            <a:r>
              <a:rPr lang="en-US" sz="2499" spc="-49">
                <a:solidFill>
                  <a:srgbClr val="00385D"/>
                </a:solidFill>
                <a:latin typeface="Poppins"/>
                <a:ea typeface="Poppins"/>
                <a:cs typeface="Poppins"/>
                <a:sym typeface="Poppins"/>
              </a:rPr>
              <a:t>ada had slightly lower performance: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Accuracy: 0.9724</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F1-scor</a:t>
            </a:r>
            <a:r>
              <a:rPr lang="en-US" sz="2499" spc="-49">
                <a:solidFill>
                  <a:srgbClr val="00385D"/>
                </a:solidFill>
                <a:latin typeface="Poppins"/>
                <a:ea typeface="Poppins"/>
                <a:cs typeface="Poppins"/>
                <a:sym typeface="Poppins"/>
              </a:rPr>
              <a:t>e: 0.9724</a:t>
            </a:r>
          </a:p>
          <a:p>
            <a:pPr algn="just">
              <a:lnSpc>
                <a:spcPts val="3499"/>
              </a:lnSpc>
            </a:pPr>
          </a:p>
          <a:p>
            <a:pPr algn="just" marL="539749" indent="-269875" lvl="1">
              <a:lnSpc>
                <a:spcPts val="3499"/>
              </a:lnSpc>
              <a:buFont typeface="Arial"/>
              <a:buChar char="•"/>
            </a:pPr>
            <a:r>
              <a:rPr lang="en-US" sz="2499" spc="-49">
                <a:solidFill>
                  <a:srgbClr val="00385D"/>
                </a:solidFill>
                <a:latin typeface="Poppins"/>
                <a:ea typeface="Poppins"/>
                <a:cs typeface="Poppins"/>
                <a:sym typeface="Poppins"/>
              </a:rPr>
              <a:t>Pajanustan S. was the least reliable:</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A</a:t>
            </a:r>
            <a:r>
              <a:rPr lang="en-US" sz="2499" spc="-49">
                <a:solidFill>
                  <a:srgbClr val="00385D"/>
                </a:solidFill>
                <a:latin typeface="Poppins"/>
                <a:ea typeface="Poppins"/>
                <a:cs typeface="Poppins"/>
                <a:sym typeface="Poppins"/>
              </a:rPr>
              <a:t>ccuracy: 0.9605</a:t>
            </a:r>
          </a:p>
          <a:p>
            <a:pPr algn="just" marL="1079499" indent="-359833" lvl="2">
              <a:lnSpc>
                <a:spcPts val="3499"/>
              </a:lnSpc>
              <a:buFont typeface="Arial"/>
              <a:buChar char="⚬"/>
            </a:pPr>
            <a:r>
              <a:rPr lang="en-US" sz="2499" spc="-49">
                <a:solidFill>
                  <a:srgbClr val="00385D"/>
                </a:solidFill>
                <a:latin typeface="Poppins"/>
                <a:ea typeface="Poppins"/>
                <a:cs typeface="Poppins"/>
                <a:sym typeface="Poppins"/>
              </a:rPr>
              <a:t>F1-score: 0.9604</a:t>
            </a:r>
          </a:p>
          <a:p>
            <a:pPr algn="just">
              <a:lnSpc>
                <a:spcPts val="3499"/>
              </a:lnSpc>
            </a:pPr>
          </a:p>
          <a:p>
            <a:pPr algn="just">
              <a:lnSpc>
                <a:spcPts val="3499"/>
              </a:lnSpc>
            </a:pPr>
            <a:r>
              <a:rPr lang="en-US" sz="2499" spc="-49">
                <a:solidFill>
                  <a:srgbClr val="00385D"/>
                </a:solidFill>
                <a:latin typeface="Poppins"/>
                <a:ea typeface="Poppins"/>
                <a:cs typeface="Poppins"/>
                <a:sym typeface="Poppins"/>
              </a:rPr>
              <a:t>Almazan is the most stable and dependable model from Grid Search experiments.</a:t>
            </a: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7" id="7"/>
          <p:cNvSpPr txBox="true"/>
          <p:nvPr/>
        </p:nvSpPr>
        <p:spPr>
          <a:xfrm rot="0">
            <a:off x="1028700" y="1545888"/>
            <a:ext cx="1342844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CONCLUSION</a:t>
            </a:r>
          </a:p>
        </p:txBody>
      </p:sp>
      <p:sp>
        <p:nvSpPr>
          <p:cNvPr name="TextBox 8" id="8"/>
          <p:cNvSpPr txBox="true"/>
          <p:nvPr/>
        </p:nvSpPr>
        <p:spPr>
          <a:xfrm rot="0">
            <a:off x="1028700" y="3009900"/>
            <a:ext cx="16230600" cy="4191000"/>
          </a:xfrm>
          <a:prstGeom prst="rect">
            <a:avLst/>
          </a:prstGeom>
        </p:spPr>
        <p:txBody>
          <a:bodyPr anchor="t" rtlCol="false" tIns="0" lIns="0" bIns="0" rIns="0">
            <a:spAutoFit/>
          </a:bodyPr>
          <a:lstStyle/>
          <a:p>
            <a:pPr algn="just" marL="647697" indent="-323848" lvl="1">
              <a:lnSpc>
                <a:spcPts val="4199"/>
              </a:lnSpc>
              <a:buFont typeface="Arial"/>
              <a:buChar char="•"/>
            </a:pPr>
            <a:r>
              <a:rPr lang="en-US" sz="2999" spc="-59">
                <a:solidFill>
                  <a:srgbClr val="00385D"/>
                </a:solidFill>
                <a:latin typeface="Poppins"/>
                <a:ea typeface="Poppins"/>
                <a:cs typeface="Poppins"/>
                <a:sym typeface="Poppins"/>
              </a:rPr>
              <a:t>Different models perform differently in classifying mental health texts.</a:t>
            </a:r>
          </a:p>
          <a:p>
            <a:pPr algn="just" marL="647697" indent="-323848" lvl="1">
              <a:lnSpc>
                <a:spcPts val="4199"/>
              </a:lnSpc>
              <a:buFont typeface="Arial"/>
              <a:buChar char="•"/>
            </a:pPr>
            <a:r>
              <a:rPr lang="en-US" sz="2999" spc="-59">
                <a:solidFill>
                  <a:srgbClr val="00385D"/>
                </a:solidFill>
                <a:latin typeface="Poppins"/>
                <a:ea typeface="Poppins"/>
                <a:cs typeface="Poppins"/>
                <a:sym typeface="Poppins"/>
              </a:rPr>
              <a:t>Tejada (base model) performed best: lowest evaluation loss (0.075), high accuracy (0.98), strong F1-score (0.975).</a:t>
            </a:r>
          </a:p>
          <a:p>
            <a:pPr algn="just" marL="647697" indent="-323848" lvl="1">
              <a:lnSpc>
                <a:spcPts val="4199"/>
              </a:lnSpc>
              <a:buFont typeface="Arial"/>
              <a:buChar char="•"/>
            </a:pPr>
            <a:r>
              <a:rPr lang="en-US" sz="2999" spc="-59">
                <a:solidFill>
                  <a:srgbClr val="00385D"/>
                </a:solidFill>
                <a:latin typeface="Poppins"/>
                <a:ea typeface="Poppins"/>
                <a:cs typeface="Poppins"/>
                <a:sym typeface="Poppins"/>
              </a:rPr>
              <a:t>Almazan was slightly less precise; Pajanustan S. was the least</a:t>
            </a:r>
            <a:r>
              <a:rPr lang="en-US" sz="2999" spc="-59">
                <a:solidFill>
                  <a:srgbClr val="00385D"/>
                </a:solidFill>
                <a:latin typeface="Poppins"/>
                <a:ea typeface="Poppins"/>
                <a:cs typeface="Poppins"/>
                <a:sym typeface="Poppins"/>
              </a:rPr>
              <a:t> reliable.</a:t>
            </a:r>
          </a:p>
          <a:p>
            <a:pPr algn="just" marL="647697" indent="-323848" lvl="1">
              <a:lnSpc>
                <a:spcPts val="4199"/>
              </a:lnSpc>
              <a:buFont typeface="Arial"/>
              <a:buChar char="•"/>
            </a:pPr>
            <a:r>
              <a:rPr lang="en-US" sz="2999" spc="-59">
                <a:solidFill>
                  <a:srgbClr val="00385D"/>
                </a:solidFill>
                <a:latin typeface="Poppins"/>
                <a:ea typeface="Poppins"/>
                <a:cs typeface="Poppins"/>
                <a:sym typeface="Poppins"/>
              </a:rPr>
              <a:t>Hyperparamet</a:t>
            </a:r>
            <a:r>
              <a:rPr lang="en-US" sz="2999" spc="-59">
                <a:solidFill>
                  <a:srgbClr val="00385D"/>
                </a:solidFill>
                <a:latin typeface="Poppins"/>
                <a:ea typeface="Poppins"/>
                <a:cs typeface="Poppins"/>
                <a:sym typeface="Poppins"/>
              </a:rPr>
              <a:t>er optimization improved model performance and stability.</a:t>
            </a:r>
          </a:p>
          <a:p>
            <a:pPr algn="just" marL="647697" indent="-323848" lvl="1">
              <a:lnSpc>
                <a:spcPts val="4199"/>
              </a:lnSpc>
              <a:buFont typeface="Arial"/>
              <a:buChar char="•"/>
            </a:pPr>
            <a:r>
              <a:rPr lang="en-US" sz="2999" spc="-59">
                <a:solidFill>
                  <a:srgbClr val="00385D"/>
                </a:solidFill>
                <a:latin typeface="Poppins"/>
                <a:ea typeface="Poppins"/>
                <a:cs typeface="Poppins"/>
                <a:sym typeface="Poppins"/>
              </a:rPr>
              <a:t>Almazan achieved the best results after tuning with Random Search and Grid Search.</a:t>
            </a:r>
          </a:p>
          <a:p>
            <a:pPr algn="just" marL="647697" indent="-323848" lvl="1">
              <a:lnSpc>
                <a:spcPts val="4199"/>
              </a:lnSpc>
              <a:buFont typeface="Arial"/>
              <a:buChar char="•"/>
            </a:pPr>
            <a:r>
              <a:rPr lang="en-US" sz="2999" spc="-59">
                <a:solidFill>
                  <a:srgbClr val="00385D"/>
                </a:solidFill>
                <a:latin typeface="Poppins"/>
                <a:ea typeface="Poppins"/>
                <a:cs typeface="Poppins"/>
                <a:sym typeface="Poppins"/>
              </a:rPr>
              <a:t>Proper model selection and hyperparameter tuning are crucial for accurate and dependable mental health classification.</a:t>
            </a:r>
          </a:p>
        </p:txBody>
      </p:sp>
      <p:sp>
        <p:nvSpPr>
          <p:cNvPr name="TextBox 9" id="9"/>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grpSp>
        <p:nvGrpSpPr>
          <p:cNvPr name="Group 10" id="10"/>
          <p:cNvGrpSpPr/>
          <p:nvPr/>
        </p:nvGrpSpPr>
        <p:grpSpPr>
          <a:xfrm rot="0">
            <a:off x="296119" y="322992"/>
            <a:ext cx="5915033" cy="1202075"/>
            <a:chOff x="0" y="0"/>
            <a:chExt cx="7886711" cy="1602766"/>
          </a:xfrm>
        </p:grpSpPr>
        <p:sp>
          <p:nvSpPr>
            <p:cNvPr name="Freeform 11" id="11"/>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12" id="12"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grpSp>
        <p:nvGrpSpPr>
          <p:cNvPr name="Group 7" id="7"/>
          <p:cNvGrpSpPr/>
          <p:nvPr/>
        </p:nvGrpSpPr>
        <p:grpSpPr>
          <a:xfrm rot="0">
            <a:off x="296119" y="322992"/>
            <a:ext cx="5915033" cy="1202075"/>
            <a:chOff x="0" y="0"/>
            <a:chExt cx="7886711" cy="1602766"/>
          </a:xfrm>
        </p:grpSpPr>
        <p:sp>
          <p:nvSpPr>
            <p:cNvPr name="Freeform 8" id="8"/>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9" id="9"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Freeform 10" id="10"/>
          <p:cNvSpPr/>
          <p:nvPr/>
        </p:nvSpPr>
        <p:spPr>
          <a:xfrm flipH="false" flipV="false" rot="0">
            <a:off x="2575057" y="2607318"/>
            <a:ext cx="13137886" cy="6727182"/>
          </a:xfrm>
          <a:custGeom>
            <a:avLst/>
            <a:gdLst/>
            <a:ahLst/>
            <a:cxnLst/>
            <a:rect r="r" b="b" t="t" l="l"/>
            <a:pathLst>
              <a:path h="6727182" w="13137886">
                <a:moveTo>
                  <a:pt x="0" y="0"/>
                </a:moveTo>
                <a:lnTo>
                  <a:pt x="13137886" y="0"/>
                </a:lnTo>
                <a:lnTo>
                  <a:pt x="13137886" y="6727182"/>
                </a:lnTo>
                <a:lnTo>
                  <a:pt x="0" y="6727182"/>
                </a:lnTo>
                <a:lnTo>
                  <a:pt x="0" y="0"/>
                </a:lnTo>
                <a:close/>
              </a:path>
            </a:pathLst>
          </a:custGeom>
          <a:blipFill>
            <a:blip r:embed="rId6"/>
            <a:stretch>
              <a:fillRect l="0" t="-5347" r="0" b="-4506"/>
            </a:stretch>
          </a:blipFill>
        </p:spPr>
      </p:sp>
      <p:sp>
        <p:nvSpPr>
          <p:cNvPr name="TextBox 11" id="11"/>
          <p:cNvSpPr txBox="true"/>
          <p:nvPr/>
        </p:nvSpPr>
        <p:spPr>
          <a:xfrm rot="0">
            <a:off x="1028700" y="1545888"/>
            <a:ext cx="1342844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TIMELINE</a:t>
            </a:r>
          </a:p>
        </p:txBody>
      </p:sp>
      <p:sp>
        <p:nvSpPr>
          <p:cNvPr name="TextBox 12" id="12"/>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grpSp>
        <p:nvGrpSpPr>
          <p:cNvPr name="Group 7" id="7"/>
          <p:cNvGrpSpPr/>
          <p:nvPr/>
        </p:nvGrpSpPr>
        <p:grpSpPr>
          <a:xfrm rot="0">
            <a:off x="296119" y="322992"/>
            <a:ext cx="5915033" cy="1202075"/>
            <a:chOff x="0" y="0"/>
            <a:chExt cx="7886711" cy="1602766"/>
          </a:xfrm>
        </p:grpSpPr>
        <p:sp>
          <p:nvSpPr>
            <p:cNvPr name="Freeform 8" id="8"/>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9" id="9"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10" id="10"/>
          <p:cNvSpPr txBox="true"/>
          <p:nvPr/>
        </p:nvSpPr>
        <p:spPr>
          <a:xfrm rot="0">
            <a:off x="1028700" y="1545888"/>
            <a:ext cx="1342844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TIMELINE - Descriptions</a:t>
            </a:r>
          </a:p>
        </p:txBody>
      </p:sp>
      <p:sp>
        <p:nvSpPr>
          <p:cNvPr name="TextBox 11" id="11"/>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12" id="12"/>
          <p:cNvSpPr txBox="true"/>
          <p:nvPr/>
        </p:nvSpPr>
        <p:spPr>
          <a:xfrm rot="0">
            <a:off x="1028700" y="2882454"/>
            <a:ext cx="16230600" cy="6137275"/>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spc="-49">
                <a:solidFill>
                  <a:srgbClr val="00385D"/>
                </a:solidFill>
                <a:latin typeface="Poppins Bold"/>
                <a:ea typeface="Poppins Bold"/>
                <a:cs typeface="Poppins Bold"/>
                <a:sym typeface="Poppins Bold"/>
              </a:rPr>
              <a:t>Week 14: </a:t>
            </a:r>
            <a:r>
              <a:rPr lang="en-US" sz="2499" spc="-49">
                <a:solidFill>
                  <a:srgbClr val="00385D"/>
                </a:solidFill>
                <a:latin typeface="Poppins"/>
                <a:ea typeface="Poppins"/>
                <a:cs typeface="Poppins"/>
                <a:sym typeface="Poppins"/>
              </a:rPr>
              <a:t>Gather and review 2–3 Philippine-based academic studies on mental health (e.g., Salacut et al., 2025). Extract and clean text using PyMuPDF. Perform tokenization, sentence segmentation, and initial dataset structuring. </a:t>
            </a:r>
          </a:p>
          <a:p>
            <a:pPr algn="just">
              <a:lnSpc>
                <a:spcPts val="3499"/>
              </a:lnSpc>
            </a:pPr>
          </a:p>
          <a:p>
            <a:pPr algn="just" marL="539749" indent="-269875" lvl="1">
              <a:lnSpc>
                <a:spcPts val="3499"/>
              </a:lnSpc>
              <a:buFont typeface="Arial"/>
              <a:buChar char="•"/>
            </a:pPr>
            <a:r>
              <a:rPr lang="en-US" b="true" sz="2499" spc="-49">
                <a:solidFill>
                  <a:srgbClr val="00385D"/>
                </a:solidFill>
                <a:latin typeface="Poppins Bold"/>
                <a:ea typeface="Poppins Bold"/>
                <a:cs typeface="Poppins Bold"/>
                <a:sym typeface="Poppins Bold"/>
              </a:rPr>
              <a:t>Week 15:</a:t>
            </a:r>
            <a:r>
              <a:rPr lang="en-US" sz="2499" spc="-49">
                <a:solidFill>
                  <a:srgbClr val="00385D"/>
                </a:solidFill>
                <a:latin typeface="Poppins"/>
                <a:ea typeface="Poppins"/>
                <a:cs typeface="Poppins"/>
                <a:sym typeface="Poppins"/>
              </a:rPr>
              <a:t> Develop and test a TF-IDF + Cosine Similarity retrieval model as the baseline. Conduct preliminary accuracy and relevance testing with a small set of question–answer pairs.</a:t>
            </a:r>
          </a:p>
          <a:p>
            <a:pPr algn="just">
              <a:lnSpc>
                <a:spcPts val="3499"/>
              </a:lnSpc>
            </a:pPr>
          </a:p>
          <a:p>
            <a:pPr algn="just" marL="539749" indent="-269875" lvl="1">
              <a:lnSpc>
                <a:spcPts val="3499"/>
              </a:lnSpc>
              <a:buFont typeface="Arial"/>
              <a:buChar char="•"/>
            </a:pPr>
            <a:r>
              <a:rPr lang="en-US" b="true" sz="2499" spc="-49">
                <a:solidFill>
                  <a:srgbClr val="00385D"/>
                </a:solidFill>
                <a:latin typeface="Poppins Bold"/>
                <a:ea typeface="Poppins Bold"/>
                <a:cs typeface="Poppins Bold"/>
                <a:sym typeface="Poppins Bold"/>
              </a:rPr>
              <a:t>Week 16:</a:t>
            </a:r>
            <a:r>
              <a:rPr lang="en-US" sz="2499" spc="-49">
                <a:solidFill>
                  <a:srgbClr val="00385D"/>
                </a:solidFill>
                <a:latin typeface="Poppins"/>
                <a:ea typeface="Poppins"/>
                <a:cs typeface="Poppins"/>
                <a:sym typeface="Poppins"/>
              </a:rPr>
              <a:t>  Embedding Generation Implement multiple BERT variants (BERT-base, BERT-large, DistilBERT, and possibly MentalBERT). Generate text embeddings and test retrieval-based response generation. </a:t>
            </a:r>
          </a:p>
          <a:p>
            <a:pPr algn="just">
              <a:lnSpc>
                <a:spcPts val="3499"/>
              </a:lnSpc>
            </a:pPr>
          </a:p>
          <a:p>
            <a:pPr algn="just" marL="539749" indent="-269875" lvl="1">
              <a:lnSpc>
                <a:spcPts val="3499"/>
              </a:lnSpc>
              <a:buFont typeface="Arial"/>
              <a:buChar char="•"/>
            </a:pPr>
            <a:r>
              <a:rPr lang="en-US" b="true" sz="2499" spc="-49">
                <a:solidFill>
                  <a:srgbClr val="00385D"/>
                </a:solidFill>
                <a:latin typeface="Poppins Bold"/>
                <a:ea typeface="Poppins Bold"/>
                <a:cs typeface="Poppins Bold"/>
                <a:sym typeface="Poppins Bold"/>
              </a:rPr>
              <a:t>Week 17:</a:t>
            </a:r>
            <a:r>
              <a:rPr lang="en-US" sz="2499" spc="-49">
                <a:solidFill>
                  <a:srgbClr val="00385D"/>
                </a:solidFill>
                <a:latin typeface="Poppins"/>
                <a:ea typeface="Poppins"/>
                <a:cs typeface="Poppins"/>
                <a:sym typeface="Poppins"/>
              </a:rPr>
              <a:t> Perform (accuracy, precision, recall, F1-score, cosine similarity).Compare performance of all BERT models with the baseline. </a:t>
            </a:r>
          </a:p>
          <a:p>
            <a:pPr algn="just">
              <a:lnSpc>
                <a:spcPts val="3499"/>
              </a:lnSpc>
            </a:pPr>
          </a:p>
          <a:p>
            <a:pPr algn="just" marL="539749" indent="-269875" lvl="1">
              <a:lnSpc>
                <a:spcPts val="3499"/>
              </a:lnSpc>
              <a:buFont typeface="Arial"/>
              <a:buChar char="•"/>
            </a:pPr>
            <a:r>
              <a:rPr lang="en-US" b="true" sz="2499" spc="-49">
                <a:solidFill>
                  <a:srgbClr val="00385D"/>
                </a:solidFill>
                <a:latin typeface="Poppins Bold"/>
                <a:ea typeface="Poppins Bold"/>
                <a:cs typeface="Poppins Bold"/>
                <a:sym typeface="Poppins Bold"/>
              </a:rPr>
              <a:t>Week 18:</a:t>
            </a:r>
            <a:r>
              <a:rPr lang="en-US" sz="2499" spc="-49">
                <a:solidFill>
                  <a:srgbClr val="00385D"/>
                </a:solidFill>
                <a:latin typeface="Poppins"/>
                <a:ea typeface="Poppins"/>
                <a:cs typeface="Poppins"/>
                <a:sym typeface="Poppins"/>
              </a:rPr>
              <a:t> Prepare the IEEE-formatted report, and complete the final project presentation.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5400000">
            <a:off x="13551090" y="4984021"/>
            <a:ext cx="87610" cy="9386210"/>
            <a:chOff x="0" y="0"/>
            <a:chExt cx="23074" cy="2472088"/>
          </a:xfrm>
        </p:grpSpPr>
        <p:sp>
          <p:nvSpPr>
            <p:cNvPr name="Freeform 4" id="4"/>
            <p:cNvSpPr/>
            <p:nvPr/>
          </p:nvSpPr>
          <p:spPr>
            <a:xfrm flipH="false" flipV="false" rot="0">
              <a:off x="0" y="0"/>
              <a:ext cx="23074" cy="2472088"/>
            </a:xfrm>
            <a:custGeom>
              <a:avLst/>
              <a:gdLst/>
              <a:ahLst/>
              <a:cxnLst/>
              <a:rect r="r" b="b" t="t" l="l"/>
              <a:pathLst>
                <a:path h="2472088" w="23074">
                  <a:moveTo>
                    <a:pt x="0" y="0"/>
                  </a:moveTo>
                  <a:lnTo>
                    <a:pt x="23074" y="0"/>
                  </a:lnTo>
                  <a:lnTo>
                    <a:pt x="23074" y="2472088"/>
                  </a:lnTo>
                  <a:lnTo>
                    <a:pt x="0" y="2472088"/>
                  </a:lnTo>
                  <a:close/>
                </a:path>
              </a:pathLst>
            </a:custGeom>
            <a:solidFill>
              <a:srgbClr val="00385D"/>
            </a:solidFill>
          </p:spPr>
        </p:sp>
        <p:sp>
          <p:nvSpPr>
            <p:cNvPr name="TextBox 5" id="5"/>
            <p:cNvSpPr txBox="true"/>
            <p:nvPr/>
          </p:nvSpPr>
          <p:spPr>
            <a:xfrm>
              <a:off x="0" y="-66675"/>
              <a:ext cx="23074" cy="2538763"/>
            </a:xfrm>
            <a:prstGeom prst="rect">
              <a:avLst/>
            </a:prstGeom>
          </p:spPr>
          <p:txBody>
            <a:bodyPr anchor="ctr" rtlCol="false" tIns="50800" lIns="50800" bIns="50800" rIns="50800"/>
            <a:lstStyle/>
            <a:p>
              <a:pPr algn="ctr">
                <a:lnSpc>
                  <a:spcPts val="3640"/>
                </a:lnSpc>
              </a:pPr>
            </a:p>
          </p:txBody>
        </p:sp>
      </p:grpSp>
      <p:sp>
        <p:nvSpPr>
          <p:cNvPr name="Freeform 6" id="6"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grpSp>
        <p:nvGrpSpPr>
          <p:cNvPr name="Group 7" id="7"/>
          <p:cNvGrpSpPr/>
          <p:nvPr/>
        </p:nvGrpSpPr>
        <p:grpSpPr>
          <a:xfrm rot="0">
            <a:off x="296119" y="322992"/>
            <a:ext cx="5915033" cy="1202075"/>
            <a:chOff x="0" y="0"/>
            <a:chExt cx="7886711" cy="1602766"/>
          </a:xfrm>
        </p:grpSpPr>
        <p:sp>
          <p:nvSpPr>
            <p:cNvPr name="Freeform 8" id="8"/>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9" id="9"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10" id="10"/>
          <p:cNvSpPr txBox="true"/>
          <p:nvPr/>
        </p:nvSpPr>
        <p:spPr>
          <a:xfrm rot="0">
            <a:off x="1028700" y="1545888"/>
            <a:ext cx="13428446" cy="985230"/>
          </a:xfrm>
          <a:prstGeom prst="rect">
            <a:avLst/>
          </a:prstGeom>
        </p:spPr>
        <p:txBody>
          <a:bodyPr anchor="t" rtlCol="false" tIns="0" lIns="0" bIns="0" rIns="0">
            <a:spAutoFit/>
          </a:bodyPr>
          <a:lstStyle/>
          <a:p>
            <a:pPr algn="just">
              <a:lnSpc>
                <a:spcPts val="7571"/>
              </a:lnSpc>
            </a:pPr>
            <a:r>
              <a:rPr lang="en-US" b="true" sz="5408" spc="-108">
                <a:solidFill>
                  <a:srgbClr val="00385D"/>
                </a:solidFill>
                <a:latin typeface="Poppins Ultra-Bold"/>
                <a:ea typeface="Poppins Ultra-Bold"/>
                <a:cs typeface="Poppins Ultra-Bold"/>
                <a:sym typeface="Poppins Ultra-Bold"/>
              </a:rPr>
              <a:t>REFERENCES</a:t>
            </a:r>
          </a:p>
        </p:txBody>
      </p:sp>
      <p:sp>
        <p:nvSpPr>
          <p:cNvPr name="TextBox 11" id="11"/>
          <p:cNvSpPr txBox="true"/>
          <p:nvPr/>
        </p:nvSpPr>
        <p:spPr>
          <a:xfrm rot="0">
            <a:off x="1028700" y="9371066"/>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12" id="12"/>
          <p:cNvSpPr txBox="true"/>
          <p:nvPr/>
        </p:nvSpPr>
        <p:spPr>
          <a:xfrm rot="0">
            <a:off x="1028700" y="2808410"/>
            <a:ext cx="16230600" cy="5999480"/>
          </a:xfrm>
          <a:prstGeom prst="rect">
            <a:avLst/>
          </a:prstGeom>
        </p:spPr>
        <p:txBody>
          <a:bodyPr anchor="t" rtlCol="false" tIns="0" lIns="0" bIns="0" rIns="0">
            <a:spAutoFit/>
          </a:bodyPr>
          <a:lstStyle/>
          <a:p>
            <a:pPr algn="l">
              <a:lnSpc>
                <a:spcPts val="3220"/>
              </a:lnSpc>
              <a:spcBef>
                <a:spcPct val="0"/>
              </a:spcBef>
            </a:pPr>
            <a:r>
              <a:rPr lang="en-US" sz="2300" spc="-46">
                <a:solidFill>
                  <a:srgbClr val="00385D"/>
                </a:solidFill>
                <a:latin typeface="Poppins"/>
                <a:ea typeface="Poppins"/>
                <a:cs typeface="Poppins"/>
                <a:sym typeface="Poppins"/>
              </a:rPr>
              <a:t>[1] Ji, S., Zhang, T., Ansari, L., Fu, J., Tiwari, P., &amp; Cambria, E. (2022). MentalBERT: Publicly available Pretrained Language Models for Mental Healthcare. https://aaltodoc.aalto.fi/items/a5d3341d-7ad5-479b-87ce-b70faf81015c </a:t>
            </a:r>
          </a:p>
          <a:p>
            <a:pPr algn="l">
              <a:lnSpc>
                <a:spcPts val="3220"/>
              </a:lnSpc>
              <a:spcBef>
                <a:spcPct val="0"/>
              </a:spcBef>
            </a:pPr>
          </a:p>
          <a:p>
            <a:pPr algn="l">
              <a:lnSpc>
                <a:spcPts val="3220"/>
              </a:lnSpc>
              <a:spcBef>
                <a:spcPct val="0"/>
              </a:spcBef>
            </a:pPr>
            <a:r>
              <a:rPr lang="en-US" sz="2300" spc="-46">
                <a:solidFill>
                  <a:srgbClr val="00385D"/>
                </a:solidFill>
                <a:latin typeface="Poppins"/>
                <a:ea typeface="Poppins"/>
                <a:cs typeface="Poppins"/>
                <a:sym typeface="Poppins"/>
              </a:rPr>
              <a:t>[2] Purnima. (2025, February 16). Hyperparameter Tuning in Machine Learning: Grid Search vs. Random Search. TechieFreak. https://techiefreak.org/index.php/blog/machine-learning/hyperparameter-tuning-in-machine-learning--grid-search-vs--random-search </a:t>
            </a:r>
          </a:p>
          <a:p>
            <a:pPr algn="l">
              <a:lnSpc>
                <a:spcPts val="3220"/>
              </a:lnSpc>
              <a:spcBef>
                <a:spcPct val="0"/>
              </a:spcBef>
            </a:pPr>
          </a:p>
          <a:p>
            <a:pPr algn="l">
              <a:lnSpc>
                <a:spcPts val="3220"/>
              </a:lnSpc>
              <a:spcBef>
                <a:spcPct val="0"/>
              </a:spcBef>
            </a:pPr>
            <a:r>
              <a:rPr lang="en-US" sz="2300" spc="-46">
                <a:solidFill>
                  <a:srgbClr val="00385D"/>
                </a:solidFill>
                <a:latin typeface="Poppins"/>
                <a:ea typeface="Poppins"/>
                <a:cs typeface="Poppins"/>
                <a:sym typeface="Poppins"/>
              </a:rPr>
              <a:t>[3] Wikipedia contributors. (2025, September 5). Hyperparameter optimization. Wikipedia. https://en.wikipedia.org/wiki/Hyperparameter_optimization?utm_source=chatgpt.com </a:t>
            </a:r>
          </a:p>
          <a:p>
            <a:pPr algn="l">
              <a:lnSpc>
                <a:spcPts val="3220"/>
              </a:lnSpc>
              <a:spcBef>
                <a:spcPct val="0"/>
              </a:spcBef>
            </a:pPr>
          </a:p>
          <a:p>
            <a:pPr algn="l">
              <a:lnSpc>
                <a:spcPts val="3220"/>
              </a:lnSpc>
              <a:spcBef>
                <a:spcPct val="0"/>
              </a:spcBef>
            </a:pPr>
            <a:r>
              <a:rPr lang="en-US" sz="2300" spc="-46">
                <a:solidFill>
                  <a:srgbClr val="00385D"/>
                </a:solidFill>
                <a:latin typeface="Poppins"/>
                <a:ea typeface="Poppins"/>
                <a:cs typeface="Poppins"/>
                <a:sym typeface="Poppins"/>
              </a:rPr>
              <a:t>[4] Grid Search vs. Random Search in Machine Learning: A Comprehensive Comparison for Hyperparameter Optimization. (n.d.). techiny.com. https://techiny.com/machine-learning/grid-search-vs-random-search </a:t>
            </a:r>
          </a:p>
          <a:p>
            <a:pPr algn="l">
              <a:lnSpc>
                <a:spcPts val="3220"/>
              </a:lnSpc>
              <a:spcBef>
                <a:spcPct val="0"/>
              </a:spcBef>
            </a:pPr>
          </a:p>
          <a:p>
            <a:pPr algn="l">
              <a:lnSpc>
                <a:spcPts val="3220"/>
              </a:lnSpc>
              <a:spcBef>
                <a:spcPct val="0"/>
              </a:spcBef>
            </a:pPr>
            <a:r>
              <a:rPr lang="en-US" sz="2300" spc="-46">
                <a:solidFill>
                  <a:srgbClr val="00385D"/>
                </a:solidFill>
                <a:latin typeface="Poppins"/>
                <a:ea typeface="Poppins"/>
                <a:cs typeface="Poppins"/>
                <a:sym typeface="Poppins"/>
              </a:rPr>
              <a:t>[5] S. Sarkar, “Sentiment Analysis for Mental Health,” Kaggle, 2022. Available: https://www.kaggle.com/datasets/suchintikasarkar/sentiment-analysis-for-mental-health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792981" y="3048325"/>
            <a:ext cx="12702039" cy="4167302"/>
          </a:xfrm>
          <a:prstGeom prst="rect">
            <a:avLst/>
          </a:prstGeom>
        </p:spPr>
        <p:txBody>
          <a:bodyPr anchor="t" rtlCol="false" tIns="0" lIns="0" bIns="0" rIns="0">
            <a:spAutoFit/>
          </a:bodyPr>
          <a:lstStyle/>
          <a:p>
            <a:pPr algn="ctr">
              <a:lnSpc>
                <a:spcPts val="14816"/>
              </a:lnSpc>
            </a:pPr>
            <a:r>
              <a:rPr lang="en-US" b="true" sz="18520" spc="-370">
                <a:solidFill>
                  <a:srgbClr val="00385D"/>
                </a:solidFill>
                <a:latin typeface="Poppins Bold"/>
                <a:ea typeface="Poppins Bold"/>
                <a:cs typeface="Poppins Bold"/>
                <a:sym typeface="Poppins Bold"/>
              </a:rPr>
              <a:t>Thank You So Much!</a:t>
            </a:r>
          </a:p>
        </p:txBody>
      </p:sp>
      <p:grpSp>
        <p:nvGrpSpPr>
          <p:cNvPr name="Group 4" id="4"/>
          <p:cNvGrpSpPr/>
          <p:nvPr/>
        </p:nvGrpSpPr>
        <p:grpSpPr>
          <a:xfrm rot="-316424">
            <a:off x="10110194" y="6542753"/>
            <a:ext cx="5625408" cy="984326"/>
            <a:chOff x="0" y="0"/>
            <a:chExt cx="1322107" cy="231340"/>
          </a:xfrm>
        </p:grpSpPr>
        <p:sp>
          <p:nvSpPr>
            <p:cNvPr name="Freeform 5" id="5"/>
            <p:cNvSpPr/>
            <p:nvPr/>
          </p:nvSpPr>
          <p:spPr>
            <a:xfrm flipH="false" flipV="false" rot="0">
              <a:off x="0" y="0"/>
              <a:ext cx="1322107" cy="231340"/>
            </a:xfrm>
            <a:custGeom>
              <a:avLst/>
              <a:gdLst/>
              <a:ahLst/>
              <a:cxnLst/>
              <a:rect r="r" b="b" t="t" l="l"/>
              <a:pathLst>
                <a:path h="231340" w="1322107">
                  <a:moveTo>
                    <a:pt x="0" y="0"/>
                  </a:moveTo>
                  <a:lnTo>
                    <a:pt x="1322107" y="0"/>
                  </a:lnTo>
                  <a:lnTo>
                    <a:pt x="1322107" y="231340"/>
                  </a:lnTo>
                  <a:lnTo>
                    <a:pt x="0" y="231340"/>
                  </a:lnTo>
                  <a:close/>
                </a:path>
              </a:pathLst>
            </a:custGeom>
            <a:solidFill>
              <a:srgbClr val="00385D"/>
            </a:solidFill>
            <a:ln w="95250" cap="sq">
              <a:solidFill>
                <a:srgbClr val="F7F7F7"/>
              </a:solidFill>
              <a:prstDash val="solid"/>
              <a:miter/>
            </a:ln>
          </p:spPr>
        </p:sp>
        <p:sp>
          <p:nvSpPr>
            <p:cNvPr name="TextBox 6" id="6"/>
            <p:cNvSpPr txBox="true"/>
            <p:nvPr/>
          </p:nvSpPr>
          <p:spPr>
            <a:xfrm>
              <a:off x="0" y="-38100"/>
              <a:ext cx="1322107" cy="269440"/>
            </a:xfrm>
            <a:prstGeom prst="rect">
              <a:avLst/>
            </a:prstGeom>
          </p:spPr>
          <p:txBody>
            <a:bodyPr anchor="ctr" rtlCol="false" tIns="45229" lIns="45229" bIns="45229" rIns="45229"/>
            <a:lstStyle/>
            <a:p>
              <a:pPr algn="ctr">
                <a:lnSpc>
                  <a:spcPts val="2659"/>
                </a:lnSpc>
                <a:spcBef>
                  <a:spcPct val="0"/>
                </a:spcBef>
              </a:pPr>
            </a:p>
          </p:txBody>
        </p:sp>
      </p:grpSp>
      <p:sp>
        <p:nvSpPr>
          <p:cNvPr name="TextBox 7" id="7"/>
          <p:cNvSpPr txBox="true"/>
          <p:nvPr/>
        </p:nvSpPr>
        <p:spPr>
          <a:xfrm rot="-316424">
            <a:off x="10677820" y="6819331"/>
            <a:ext cx="4613512" cy="499425"/>
          </a:xfrm>
          <a:prstGeom prst="rect">
            <a:avLst/>
          </a:prstGeom>
        </p:spPr>
        <p:txBody>
          <a:bodyPr anchor="t" rtlCol="false" tIns="0" lIns="0" bIns="0" rIns="0">
            <a:spAutoFit/>
          </a:bodyPr>
          <a:lstStyle/>
          <a:p>
            <a:pPr algn="ctr">
              <a:lnSpc>
                <a:spcPts val="3239"/>
              </a:lnSpc>
            </a:pPr>
            <a:r>
              <a:rPr lang="en-US" sz="4049" b="true">
                <a:solidFill>
                  <a:srgbClr val="F7F7F7"/>
                </a:solidFill>
                <a:latin typeface="Poppins Semi-Bold"/>
                <a:ea typeface="Poppins Semi-Bold"/>
                <a:cs typeface="Poppins Semi-Bold"/>
                <a:sym typeface="Poppins Semi-Bold"/>
              </a:rPr>
              <a:t>Final Project</a:t>
            </a:r>
          </a:p>
        </p:txBody>
      </p:sp>
      <p:grpSp>
        <p:nvGrpSpPr>
          <p:cNvPr name="Group 8" id="8"/>
          <p:cNvGrpSpPr/>
          <p:nvPr/>
        </p:nvGrpSpPr>
        <p:grpSpPr>
          <a:xfrm rot="-5400000">
            <a:off x="18918335" y="282866"/>
            <a:ext cx="178381" cy="6477187"/>
            <a:chOff x="0" y="0"/>
            <a:chExt cx="46981" cy="1705926"/>
          </a:xfrm>
        </p:grpSpPr>
        <p:sp>
          <p:nvSpPr>
            <p:cNvPr name="Freeform 9" id="9"/>
            <p:cNvSpPr/>
            <p:nvPr/>
          </p:nvSpPr>
          <p:spPr>
            <a:xfrm flipH="false" flipV="false" rot="0">
              <a:off x="0" y="0"/>
              <a:ext cx="46981" cy="1705926"/>
            </a:xfrm>
            <a:custGeom>
              <a:avLst/>
              <a:gdLst/>
              <a:ahLst/>
              <a:cxnLst/>
              <a:rect r="r" b="b" t="t" l="l"/>
              <a:pathLst>
                <a:path h="1705926" w="46981">
                  <a:moveTo>
                    <a:pt x="0" y="0"/>
                  </a:moveTo>
                  <a:lnTo>
                    <a:pt x="46981" y="0"/>
                  </a:lnTo>
                  <a:lnTo>
                    <a:pt x="46981" y="1705926"/>
                  </a:lnTo>
                  <a:lnTo>
                    <a:pt x="0" y="1705926"/>
                  </a:lnTo>
                  <a:close/>
                </a:path>
              </a:pathLst>
            </a:custGeom>
            <a:solidFill>
              <a:srgbClr val="00385D"/>
            </a:solidFill>
          </p:spPr>
        </p:sp>
        <p:sp>
          <p:nvSpPr>
            <p:cNvPr name="TextBox 10" id="10"/>
            <p:cNvSpPr txBox="true"/>
            <p:nvPr/>
          </p:nvSpPr>
          <p:spPr>
            <a:xfrm>
              <a:off x="0" y="-66675"/>
              <a:ext cx="46981" cy="1772601"/>
            </a:xfrm>
            <a:prstGeom prst="rect">
              <a:avLst/>
            </a:prstGeom>
          </p:spPr>
          <p:txBody>
            <a:bodyPr anchor="ctr" rtlCol="false" tIns="50800" lIns="50800" bIns="50800" rIns="50800"/>
            <a:lstStyle/>
            <a:p>
              <a:pPr algn="just">
                <a:lnSpc>
                  <a:spcPts val="3640"/>
                </a:lnSpc>
              </a:pPr>
            </a:p>
          </p:txBody>
        </p:sp>
      </p:grpSp>
      <p:grpSp>
        <p:nvGrpSpPr>
          <p:cNvPr name="Group 11" id="11"/>
          <p:cNvGrpSpPr/>
          <p:nvPr/>
        </p:nvGrpSpPr>
        <p:grpSpPr>
          <a:xfrm rot="-5400000">
            <a:off x="375854" y="4808332"/>
            <a:ext cx="178381" cy="6477187"/>
            <a:chOff x="0" y="0"/>
            <a:chExt cx="46981" cy="1705926"/>
          </a:xfrm>
        </p:grpSpPr>
        <p:sp>
          <p:nvSpPr>
            <p:cNvPr name="Freeform 12" id="12"/>
            <p:cNvSpPr/>
            <p:nvPr/>
          </p:nvSpPr>
          <p:spPr>
            <a:xfrm flipH="false" flipV="false" rot="0">
              <a:off x="0" y="0"/>
              <a:ext cx="46981" cy="1705926"/>
            </a:xfrm>
            <a:custGeom>
              <a:avLst/>
              <a:gdLst/>
              <a:ahLst/>
              <a:cxnLst/>
              <a:rect r="r" b="b" t="t" l="l"/>
              <a:pathLst>
                <a:path h="1705926" w="46981">
                  <a:moveTo>
                    <a:pt x="0" y="0"/>
                  </a:moveTo>
                  <a:lnTo>
                    <a:pt x="46981" y="0"/>
                  </a:lnTo>
                  <a:lnTo>
                    <a:pt x="46981" y="1705926"/>
                  </a:lnTo>
                  <a:lnTo>
                    <a:pt x="0" y="1705926"/>
                  </a:lnTo>
                  <a:close/>
                </a:path>
              </a:pathLst>
            </a:custGeom>
            <a:solidFill>
              <a:srgbClr val="00385D"/>
            </a:solidFill>
          </p:spPr>
        </p:sp>
        <p:sp>
          <p:nvSpPr>
            <p:cNvPr name="TextBox 13" id="13"/>
            <p:cNvSpPr txBox="true"/>
            <p:nvPr/>
          </p:nvSpPr>
          <p:spPr>
            <a:xfrm>
              <a:off x="0" y="-66675"/>
              <a:ext cx="46981" cy="1772601"/>
            </a:xfrm>
            <a:prstGeom prst="rect">
              <a:avLst/>
            </a:prstGeom>
          </p:spPr>
          <p:txBody>
            <a:bodyPr anchor="ctr" rtlCol="false" tIns="50800" lIns="50800" bIns="50800" rIns="50800"/>
            <a:lstStyle/>
            <a:p>
              <a:pPr algn="just">
                <a:lnSpc>
                  <a:spcPts val="3640"/>
                </a:lnSpc>
              </a:pPr>
            </a:p>
          </p:txBody>
        </p:sp>
      </p:grpSp>
      <p:sp>
        <p:nvSpPr>
          <p:cNvPr name="Freeform 14" id="14" descr="Upscale Image"/>
          <p:cNvSpPr/>
          <p:nvPr/>
        </p:nvSpPr>
        <p:spPr>
          <a:xfrm flipH="false" flipV="false" rot="0">
            <a:off x="14665270" y="-49602"/>
            <a:ext cx="3622730" cy="3149337"/>
          </a:xfrm>
          <a:custGeom>
            <a:avLst/>
            <a:gdLst/>
            <a:ahLst/>
            <a:cxnLst/>
            <a:rect r="r" b="b" t="t" l="l"/>
            <a:pathLst>
              <a:path h="3149337" w="3622730">
                <a:moveTo>
                  <a:pt x="0" y="0"/>
                </a:moveTo>
                <a:lnTo>
                  <a:pt x="3622730" y="0"/>
                </a:lnTo>
                <a:lnTo>
                  <a:pt x="3622730" y="3149337"/>
                </a:lnTo>
                <a:lnTo>
                  <a:pt x="0" y="3149337"/>
                </a:lnTo>
                <a:lnTo>
                  <a:pt x="0" y="0"/>
                </a:lnTo>
                <a:close/>
              </a:path>
            </a:pathLst>
          </a:custGeom>
          <a:blipFill>
            <a:blip r:embed="rId3"/>
            <a:stretch>
              <a:fillRect l="-372463" t="0" r="0" b="-205708"/>
            </a:stretch>
          </a:blipFill>
        </p:spPr>
      </p:sp>
      <p:sp>
        <p:nvSpPr>
          <p:cNvPr name="TextBox 15" id="15"/>
          <p:cNvSpPr txBox="true"/>
          <p:nvPr/>
        </p:nvSpPr>
        <p:spPr>
          <a:xfrm rot="0">
            <a:off x="1028700" y="8730182"/>
            <a:ext cx="2424961" cy="457835"/>
          </a:xfrm>
          <a:prstGeom prst="rect">
            <a:avLst/>
          </a:prstGeom>
        </p:spPr>
        <p:txBody>
          <a:bodyPr anchor="t" rtlCol="false" tIns="0" lIns="0" bIns="0" rIns="0">
            <a:spAutoFit/>
          </a:bodyPr>
          <a:lstStyle/>
          <a:p>
            <a:pPr algn="l">
              <a:lnSpc>
                <a:spcPts val="3640"/>
              </a:lnSpc>
            </a:pPr>
            <a:r>
              <a:rPr lang="en-US" sz="2600" i="true">
                <a:solidFill>
                  <a:srgbClr val="00385D"/>
                </a:solidFill>
                <a:latin typeface="Poppins Italics"/>
                <a:ea typeface="Poppins Italics"/>
                <a:cs typeface="Poppins Italics"/>
                <a:sym typeface="Poppins Italics"/>
              </a:rPr>
              <a:t>Presented by</a:t>
            </a:r>
          </a:p>
        </p:txBody>
      </p:sp>
      <p:sp>
        <p:nvSpPr>
          <p:cNvPr name="TextBox 16" id="16"/>
          <p:cNvSpPr txBox="true"/>
          <p:nvPr/>
        </p:nvSpPr>
        <p:spPr>
          <a:xfrm rot="0">
            <a:off x="1028700" y="9178442"/>
            <a:ext cx="10012969" cy="457835"/>
          </a:xfrm>
          <a:prstGeom prst="rect">
            <a:avLst/>
          </a:prstGeom>
        </p:spPr>
        <p:txBody>
          <a:bodyPr anchor="t" rtlCol="false" tIns="0" lIns="0" bIns="0" rIns="0">
            <a:spAutoFit/>
          </a:bodyPr>
          <a:lstStyle/>
          <a:p>
            <a:pPr algn="l">
              <a:lnSpc>
                <a:spcPts val="3640"/>
              </a:lnSpc>
            </a:pPr>
            <a:r>
              <a:rPr lang="en-US" sz="2600" spc="-52" b="true">
                <a:solidFill>
                  <a:srgbClr val="00385D"/>
                </a:solidFill>
                <a:latin typeface="Poppins Bold"/>
                <a:ea typeface="Poppins Bold"/>
                <a:cs typeface="Poppins Bold"/>
                <a:sym typeface="Poppins Bold"/>
              </a:rPr>
              <a:t>Almazan, Tejada, &amp; Pajanustan, Samantha</a:t>
            </a:r>
          </a:p>
        </p:txBody>
      </p:sp>
      <p:sp>
        <p:nvSpPr>
          <p:cNvPr name="TextBox 17" id="17"/>
          <p:cNvSpPr txBox="true"/>
          <p:nvPr/>
        </p:nvSpPr>
        <p:spPr>
          <a:xfrm rot="0">
            <a:off x="14834339" y="8565438"/>
            <a:ext cx="2424961" cy="651129"/>
          </a:xfrm>
          <a:prstGeom prst="rect">
            <a:avLst/>
          </a:prstGeom>
        </p:spPr>
        <p:txBody>
          <a:bodyPr anchor="t" rtlCol="false" tIns="0" lIns="0" bIns="0" rIns="0">
            <a:spAutoFit/>
          </a:bodyPr>
          <a:lstStyle/>
          <a:p>
            <a:pPr algn="r">
              <a:lnSpc>
                <a:spcPts val="2418"/>
              </a:lnSpc>
            </a:pPr>
            <a:r>
              <a:rPr lang="en-US" sz="2600" i="true">
                <a:solidFill>
                  <a:srgbClr val="00385D"/>
                </a:solidFill>
                <a:latin typeface="Poppins Italics"/>
                <a:ea typeface="Poppins Italics"/>
                <a:cs typeface="Poppins Italics"/>
                <a:sym typeface="Poppins Italics"/>
              </a:rPr>
              <a:t>Under the Guidance of:</a:t>
            </a:r>
          </a:p>
        </p:txBody>
      </p:sp>
      <p:sp>
        <p:nvSpPr>
          <p:cNvPr name="TextBox 18" id="18"/>
          <p:cNvSpPr txBox="true"/>
          <p:nvPr/>
        </p:nvSpPr>
        <p:spPr>
          <a:xfrm rot="0">
            <a:off x="9598526" y="9121317"/>
            <a:ext cx="7660774" cy="551555"/>
          </a:xfrm>
          <a:prstGeom prst="rect">
            <a:avLst/>
          </a:prstGeom>
        </p:spPr>
        <p:txBody>
          <a:bodyPr anchor="t" rtlCol="false" tIns="0" lIns="0" bIns="0" rIns="0">
            <a:spAutoFit/>
          </a:bodyPr>
          <a:lstStyle/>
          <a:p>
            <a:pPr algn="r">
              <a:lnSpc>
                <a:spcPts val="4249"/>
              </a:lnSpc>
            </a:pPr>
            <a:r>
              <a:rPr lang="en-US" b="true" sz="3035" spc="-60">
                <a:solidFill>
                  <a:srgbClr val="00385D"/>
                </a:solidFill>
                <a:latin typeface="Poppins Bold"/>
                <a:ea typeface="Poppins Bold"/>
                <a:cs typeface="Poppins Bold"/>
                <a:sym typeface="Poppins Bold"/>
              </a:rPr>
              <a:t>Dr. Rodolfo C. Raga Jr.</a:t>
            </a:r>
          </a:p>
        </p:txBody>
      </p:sp>
      <p:grpSp>
        <p:nvGrpSpPr>
          <p:cNvPr name="Group 19" id="19"/>
          <p:cNvGrpSpPr/>
          <p:nvPr/>
        </p:nvGrpSpPr>
        <p:grpSpPr>
          <a:xfrm rot="0">
            <a:off x="296119" y="322992"/>
            <a:ext cx="5915033" cy="1202075"/>
            <a:chOff x="0" y="0"/>
            <a:chExt cx="7886711" cy="1602766"/>
          </a:xfrm>
        </p:grpSpPr>
        <p:sp>
          <p:nvSpPr>
            <p:cNvPr name="Freeform 20" id="20"/>
            <p:cNvSpPr/>
            <p:nvPr/>
          </p:nvSpPr>
          <p:spPr>
            <a:xfrm flipH="false" flipV="false" rot="0">
              <a:off x="0" y="0"/>
              <a:ext cx="1602766" cy="1602766"/>
            </a:xfrm>
            <a:custGeom>
              <a:avLst/>
              <a:gdLst/>
              <a:ahLst/>
              <a:cxnLst/>
              <a:rect r="r" b="b" t="t" l="l"/>
              <a:pathLst>
                <a:path h="1602766" w="1602766">
                  <a:moveTo>
                    <a:pt x="0" y="0"/>
                  </a:moveTo>
                  <a:lnTo>
                    <a:pt x="1602766" y="0"/>
                  </a:lnTo>
                  <a:lnTo>
                    <a:pt x="1602766" y="1602766"/>
                  </a:lnTo>
                  <a:lnTo>
                    <a:pt x="0" y="1602766"/>
                  </a:lnTo>
                  <a:lnTo>
                    <a:pt x="0" y="0"/>
                  </a:lnTo>
                  <a:close/>
                </a:path>
              </a:pathLst>
            </a:custGeom>
            <a:blipFill>
              <a:blip r:embed="rId4"/>
              <a:stretch>
                <a:fillRect l="0" t="0" r="0" b="0"/>
              </a:stretch>
            </a:blipFill>
          </p:spPr>
        </p:sp>
        <p:sp>
          <p:nvSpPr>
            <p:cNvPr name="Freeform 21" id="21" descr="Upscale Image"/>
            <p:cNvSpPr/>
            <p:nvPr/>
          </p:nvSpPr>
          <p:spPr>
            <a:xfrm flipH="false" flipV="false" rot="0">
              <a:off x="1723305" y="207937"/>
              <a:ext cx="6163405" cy="1394829"/>
            </a:xfrm>
            <a:custGeom>
              <a:avLst/>
              <a:gdLst/>
              <a:ahLst/>
              <a:cxnLst/>
              <a:rect r="r" b="b" t="t" l="l"/>
              <a:pathLst>
                <a:path h="1394829" w="6163405">
                  <a:moveTo>
                    <a:pt x="0" y="0"/>
                  </a:moveTo>
                  <a:lnTo>
                    <a:pt x="6163406" y="0"/>
                  </a:lnTo>
                  <a:lnTo>
                    <a:pt x="6163406" y="1394829"/>
                  </a:lnTo>
                  <a:lnTo>
                    <a:pt x="0" y="1394829"/>
                  </a:lnTo>
                  <a:lnTo>
                    <a:pt x="0" y="0"/>
                  </a:lnTo>
                  <a:close/>
                </a:path>
              </a:pathLst>
            </a:custGeom>
            <a:blipFill>
              <a:blip r:embed="rId5"/>
              <a:stretch>
                <a:fillRect l="-29293" t="-38537" r="-131051" b="-508562"/>
              </a:stretch>
            </a:blipFill>
          </p:spPr>
        </p:sp>
      </p:grpSp>
      <p:sp>
        <p:nvSpPr>
          <p:cNvPr name="TextBox 22" id="22"/>
          <p:cNvSpPr txBox="true"/>
          <p:nvPr/>
        </p:nvSpPr>
        <p:spPr>
          <a:xfrm rot="0">
            <a:off x="8606118" y="237267"/>
            <a:ext cx="6415877" cy="457835"/>
          </a:xfrm>
          <a:prstGeom prst="rect">
            <a:avLst/>
          </a:prstGeom>
        </p:spPr>
        <p:txBody>
          <a:bodyPr anchor="t" rtlCol="false" tIns="0" lIns="0" bIns="0" rIns="0">
            <a:spAutoFit/>
          </a:bodyPr>
          <a:lstStyle/>
          <a:p>
            <a:pPr algn="r">
              <a:lnSpc>
                <a:spcPts val="3640"/>
              </a:lnSpc>
            </a:pPr>
            <a:r>
              <a:rPr lang="en-US" b="true" sz="2600" spc="-52">
                <a:solidFill>
                  <a:srgbClr val="00385D"/>
                </a:solidFill>
                <a:latin typeface="Poppins Bold"/>
                <a:ea typeface="Poppins Bold"/>
                <a:cs typeface="Poppins Bold"/>
                <a:sym typeface="Poppins Bold"/>
              </a:rPr>
              <a:t>Final Project | GroofGroof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DAG5ISaRzQs</dc:identifier>
  <dcterms:modified xsi:type="dcterms:W3CDTF">2011-08-01T06:04:30Z</dcterms:modified>
  <cp:revision>1</cp:revision>
  <dc:title>FinalProject_Presentation_GroofGroof</dc:title>
</cp:coreProperties>
</file>